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731520" y="685800"/>
            <a:ext cx="1371600" cy="384048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10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1100"/>
          </a:p>
        </p:txBody>
      </p:sp>
      <p:sp>
        <p:nvSpPr>
          <p:cNvPr id="9" name="Text 9"/>
          <p:cNvSpPr txBox="1"/>
          <p:nvPr/>
        </p:nvSpPr>
        <p:spPr>
          <a:xfrm>
            <a:off x="2267712" y="7863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30" b="1">
                <a:solidFill>
                  <a:srgbClr val="9F1E1E"/>
                </a:solidFill>
                <a:latin typeface="Avenir Next"/>
                <a:ea typeface="PingFang SC"/>
              </a:rPr>
              <a:t>BASIS 贝赛思</a:t>
            </a:r>
            <a:endParaRPr lang="zh-CN" sz="830"/>
          </a:p>
        </p:txBody>
      </p:sp>
      <p:sp>
        <p:nvSpPr>
          <p:cNvPr id="10" name="Text 10"/>
          <p:cNvSpPr txBox="1"/>
          <p:nvPr/>
        </p:nvSpPr>
        <p:spPr>
          <a:xfrm>
            <a:off x="749808" y="1572768"/>
            <a:ext cx="996696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3100" b="1">
                <a:solidFill>
                  <a:srgbClr val="9F1E1E"/>
                </a:solidFill>
                <a:latin typeface="Avenir Next"/>
                <a:ea typeface="PingFang SC"/>
              </a:rPr>
              <a:t>我的 AI 项目学习分享</a:t>
            </a:r>
            <a:endParaRPr lang="zh-CN" sz="3100"/>
          </a:p>
          <a:p>
            <a:pPr algn="l" marL="0" indent="0">
              <a:buNone/>
            </a:pPr>
            <a:r>
              <a:rPr lang="zh-CN" sz="3100" b="1">
                <a:solidFill>
                  <a:srgbClr val="9F1E1E"/>
                </a:solidFill>
                <a:latin typeface="Avenir Next"/>
                <a:ea typeface="PingFang SC"/>
              </a:rPr>
              <a:t>Fungi Simulator</a:t>
            </a:r>
            <a:endParaRPr lang="zh-CN" sz="3100"/>
          </a:p>
        </p:txBody>
      </p:sp>
      <p:sp>
        <p:nvSpPr>
          <p:cNvPr id="11" name="Text 11"/>
          <p:cNvSpPr txBox="1"/>
          <p:nvPr/>
        </p:nvSpPr>
        <p:spPr>
          <a:xfrm>
            <a:off x="786384" y="2999232"/>
            <a:ext cx="71323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350" b="0">
                <a:solidFill>
                  <a:srgbClr val="985151"/>
                </a:solidFill>
                <a:latin typeface="Avenir Next"/>
                <a:ea typeface="PingFang SC"/>
              </a:rPr>
              <a:t>从编程学习到做出一个智能科普小游戏</a:t>
            </a:r>
            <a:endParaRPr lang="zh-CN" sz="1350"/>
          </a:p>
        </p:txBody>
      </p:sp>
      <p:sp>
        <p:nvSpPr>
          <p:cNvPr id="12" name="Shape 12"/>
          <p:cNvSpPr/>
          <p:nvPr/>
        </p:nvSpPr>
        <p:spPr>
          <a:xfrm>
            <a:off x="822960" y="3977639"/>
            <a:ext cx="292608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 13"/>
          <p:cNvSpPr/>
          <p:nvPr/>
        </p:nvSpPr>
        <p:spPr>
          <a:xfrm>
            <a:off x="822960" y="3977639"/>
            <a:ext cx="73152" cy="91440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 14"/>
          <p:cNvSpPr txBox="1"/>
          <p:nvPr/>
        </p:nvSpPr>
        <p:spPr>
          <a:xfrm>
            <a:off x="1024128" y="4105655"/>
            <a:ext cx="2606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科普</a:t>
            </a:r>
            <a:endParaRPr lang="zh-CN" sz="1180"/>
          </a:p>
        </p:txBody>
      </p:sp>
      <p:sp>
        <p:nvSpPr>
          <p:cNvPr id="15" name="Text 15"/>
          <p:cNvSpPr txBox="1"/>
          <p:nvPr/>
        </p:nvSpPr>
        <p:spPr>
          <a:xfrm>
            <a:off x="1024128" y="4489703"/>
            <a:ext cx="25786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把真实生物现象讲得更直观</a:t>
            </a:r>
            <a:endParaRPr lang="zh-CN" sz="1050"/>
          </a:p>
        </p:txBody>
      </p:sp>
      <p:sp>
        <p:nvSpPr>
          <p:cNvPr id="16" name="Shape 16"/>
          <p:cNvSpPr/>
          <p:nvPr/>
        </p:nvSpPr>
        <p:spPr>
          <a:xfrm>
            <a:off x="4069080" y="3977639"/>
            <a:ext cx="292608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Shape 17"/>
          <p:cNvSpPr/>
          <p:nvPr/>
        </p:nvSpPr>
        <p:spPr>
          <a:xfrm>
            <a:off x="4069080" y="3977639"/>
            <a:ext cx="73152" cy="91440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Text 18"/>
          <p:cNvSpPr txBox="1"/>
          <p:nvPr/>
        </p:nvSpPr>
        <p:spPr>
          <a:xfrm>
            <a:off x="4270248" y="4105655"/>
            <a:ext cx="2606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游戏</a:t>
            </a:r>
            <a:endParaRPr lang="zh-CN" sz="1180"/>
          </a:p>
        </p:txBody>
      </p:sp>
      <p:sp>
        <p:nvSpPr>
          <p:cNvPr id="19" name="Text 19"/>
          <p:cNvSpPr txBox="1"/>
          <p:nvPr/>
        </p:nvSpPr>
        <p:spPr>
          <a:xfrm>
            <a:off x="4270248" y="4489703"/>
            <a:ext cx="25786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用选择和行动理解知识</a:t>
            </a:r>
            <a:endParaRPr lang="zh-CN" sz="1050"/>
          </a:p>
        </p:txBody>
      </p:sp>
      <p:sp>
        <p:nvSpPr>
          <p:cNvPr id="20" name="Shape 20"/>
          <p:cNvSpPr/>
          <p:nvPr/>
        </p:nvSpPr>
        <p:spPr>
          <a:xfrm>
            <a:off x="7315200" y="3977639"/>
            <a:ext cx="2926080" cy="914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7315200" y="3977639"/>
            <a:ext cx="73152" cy="91440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ext 22"/>
          <p:cNvSpPr txBox="1"/>
          <p:nvPr/>
        </p:nvSpPr>
        <p:spPr>
          <a:xfrm>
            <a:off x="7516368" y="4105655"/>
            <a:ext cx="2606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AI 助手</a:t>
            </a:r>
            <a:endParaRPr lang="zh-CN" sz="1180"/>
          </a:p>
        </p:txBody>
      </p:sp>
      <p:sp>
        <p:nvSpPr>
          <p:cNvPr id="23" name="Text 23"/>
          <p:cNvSpPr txBox="1"/>
          <p:nvPr/>
        </p:nvSpPr>
        <p:spPr>
          <a:xfrm>
            <a:off x="7516368" y="4489703"/>
            <a:ext cx="2578608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帮助生成策略和解释内容</a:t>
            </a:r>
            <a:endParaRPr lang="zh-CN" sz="1050"/>
          </a:p>
        </p:txBody>
      </p:sp>
      <p:sp>
        <p:nvSpPr>
          <p:cNvPr id="24" name="Text 24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1/12</a:t>
            </a:r>
            <a:endParaRPr lang="zh-CN" sz="7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从学习到作品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自我介绍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731520" y="1691640"/>
            <a:ext cx="333756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731520" y="1691640"/>
            <a:ext cx="73152" cy="342900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932688" y="1819656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我是谁</a:t>
            </a:r>
            <a:endParaRPr lang="zh-CN" sz="1180"/>
          </a:p>
        </p:txBody>
      </p:sp>
      <p:sp>
        <p:nvSpPr>
          <p:cNvPr id="14" name="Text 14"/>
          <p:cNvSpPr txBox="1"/>
          <p:nvPr/>
        </p:nvSpPr>
        <p:spPr>
          <a:xfrm>
            <a:off x="932688" y="2203704"/>
            <a:ext cx="2990088" cy="2843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Emma</a:t>
            </a:r>
            <a:endParaRPr lang="zh-CN" sz="1160"/>
          </a:p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来自 BASIS 贝赛思</a:t>
            </a:r>
            <a:endParaRPr lang="zh-CN" sz="1160"/>
          </a:p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喜欢把编程和兴趣结合起来</a:t>
            </a:r>
            <a:endParaRPr lang="zh-CN" sz="1160"/>
          </a:p>
        </p:txBody>
      </p:sp>
      <p:sp>
        <p:nvSpPr>
          <p:cNvPr id="15" name="Shape 15"/>
          <p:cNvSpPr/>
          <p:nvPr/>
        </p:nvSpPr>
        <p:spPr>
          <a:xfrm>
            <a:off x="4434840" y="1691640"/>
            <a:ext cx="292608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4434840" y="1691640"/>
            <a:ext cx="73152" cy="342900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4636008" y="1819656"/>
            <a:ext cx="2606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编程学习</a:t>
            </a:r>
            <a:endParaRPr lang="zh-CN" sz="1180"/>
          </a:p>
        </p:txBody>
      </p:sp>
      <p:sp>
        <p:nvSpPr>
          <p:cNvPr id="18" name="Text 18"/>
          <p:cNvSpPr txBox="1"/>
          <p:nvPr/>
        </p:nvSpPr>
        <p:spPr>
          <a:xfrm>
            <a:off x="4636008" y="2203704"/>
            <a:ext cx="2578608" cy="2843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学习编程 3 年</a:t>
            </a:r>
            <a:endParaRPr lang="zh-CN" sz="1160"/>
          </a:p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从练习题到完整项目</a:t>
            </a:r>
            <a:endParaRPr lang="zh-CN" sz="1160"/>
          </a:p>
          <a:p>
            <a:pPr algn="l" marL="0" indent="0">
              <a:buNone/>
            </a:pPr>
            <a:r>
              <a:rPr lang="zh-CN" sz="1160" b="0">
                <a:solidFill>
                  <a:srgbClr val="7B2525"/>
                </a:solidFill>
                <a:latin typeface="Avenir Next"/>
                <a:ea typeface="PingFang SC"/>
              </a:rPr>
              <a:t>逐步学会拆解问题</a:t>
            </a:r>
            <a:endParaRPr lang="zh-CN" sz="1160"/>
          </a:p>
        </p:txBody>
      </p:sp>
      <p:sp>
        <p:nvSpPr>
          <p:cNvPr id="19" name="Shape 19"/>
          <p:cNvSpPr/>
          <p:nvPr/>
        </p:nvSpPr>
        <p:spPr>
          <a:xfrm>
            <a:off x="7726679" y="1691640"/>
            <a:ext cx="3337560" cy="34290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7726679" y="1691640"/>
            <a:ext cx="73152" cy="3429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 21"/>
          <p:cNvSpPr txBox="1"/>
          <p:nvPr/>
        </p:nvSpPr>
        <p:spPr>
          <a:xfrm>
            <a:off x="7927847" y="1819656"/>
            <a:ext cx="30175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阶段成果</a:t>
            </a:r>
            <a:endParaRPr lang="zh-CN" sz="1180"/>
          </a:p>
        </p:txBody>
      </p:sp>
      <p:sp>
        <p:nvSpPr>
          <p:cNvPr id="22" name="Text 22"/>
          <p:cNvSpPr txBox="1"/>
          <p:nvPr/>
        </p:nvSpPr>
        <p:spPr>
          <a:xfrm>
            <a:off x="7927847" y="2203704"/>
            <a:ext cx="2990088" cy="28437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00" b="0">
                <a:solidFill>
                  <a:srgbClr val="7B2525"/>
                </a:solidFill>
                <a:latin typeface="Avenir Next"/>
                <a:ea typeface="PingFang SC"/>
              </a:rPr>
              <a:t>已通过 USACO 铜级认证</a:t>
            </a:r>
            <a:endParaRPr lang="zh-CN" sz="1100"/>
          </a:p>
          <a:p>
            <a:pPr algn="l" marL="0" indent="0">
              <a:buNone/>
            </a:pPr>
            <a:r>
              <a:rPr lang="zh-CN" sz="1100" b="0">
                <a:solidFill>
                  <a:srgbClr val="7B2525"/>
                </a:solidFill>
                <a:latin typeface="Avenir Next"/>
                <a:ea typeface="PingFang SC"/>
              </a:rPr>
              <a:t>这是编程解题能力的一次阶段证明</a:t>
            </a:r>
            <a:endParaRPr lang="zh-CN" sz="1100"/>
          </a:p>
        </p:txBody>
      </p:sp>
      <p:sp>
        <p:nvSpPr>
          <p:cNvPr id="23" name="Text 23"/>
          <p:cNvSpPr txBox="1"/>
          <p:nvPr/>
        </p:nvSpPr>
        <p:spPr>
          <a:xfrm>
            <a:off x="868680" y="5486400"/>
            <a:ext cx="9966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200" b="1">
                <a:solidFill>
                  <a:srgbClr val="9F1E1E"/>
                </a:solidFill>
                <a:latin typeface="Avenir Next"/>
                <a:ea typeface="PingFang SC"/>
              </a:rPr>
              <a:t>编程不只是在屏幕上写代码，也可以变成一个能分享、能体验的作品。</a:t>
            </a:r>
            <a:endParaRPr lang="zh-CN" sz="1200"/>
          </a:p>
        </p:txBody>
      </p:sp>
      <p:sp>
        <p:nvSpPr>
          <p:cNvPr id="24" name="Text 24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2/12</a:t>
            </a:r>
            <a:endParaRPr lang="zh-CN" sz="7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从一个好奇问题开始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我为什么想做这个项目</a:t>
            </a:r>
            <a:endParaRPr lang="zh-CN" sz="2200"/>
          </a:p>
        </p:txBody>
      </p:sp>
      <p:sp>
        <p:nvSpPr>
          <p:cNvPr id="11" name="Text 11"/>
          <p:cNvSpPr txBox="1"/>
          <p:nvPr/>
        </p:nvSpPr>
        <p:spPr>
          <a:xfrm>
            <a:off x="749808" y="1600200"/>
            <a:ext cx="4937760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450" b="1">
                <a:solidFill>
                  <a:srgbClr val="9F1E1E"/>
                </a:solidFill>
                <a:latin typeface="Avenir Next"/>
                <a:ea typeface="PingFang SC"/>
              </a:rPr>
              <a:t>真菌真的会影响昆虫行为吗？</a:t>
            </a:r>
            <a:endParaRPr lang="zh-CN" sz="2450"/>
          </a:p>
        </p:txBody>
      </p:sp>
      <p:sp>
        <p:nvSpPr>
          <p:cNvPr id="12" name="Shape 12"/>
          <p:cNvSpPr/>
          <p:nvPr/>
        </p:nvSpPr>
        <p:spPr>
          <a:xfrm>
            <a:off x="822960" y="3063240"/>
            <a:ext cx="4480560" cy="1508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1097280" y="33375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300" b="1">
                <a:solidFill>
                  <a:srgbClr val="7B2525"/>
                </a:solidFill>
                <a:latin typeface="Avenir Next"/>
                <a:ea typeface="PingFang SC"/>
              </a:rPr>
              <a:t>“僵尸蚂蚁真菌”听起来像科幻，</a:t>
            </a:r>
            <a:endParaRPr lang="zh-CN" sz="1300"/>
          </a:p>
          <a:p>
            <a:pPr algn="c" marL="0" indent="0">
              <a:buNone/>
            </a:pPr>
            <a:r>
              <a:rPr lang="zh-CN" sz="1300" b="1">
                <a:solidFill>
                  <a:srgbClr val="7B2525"/>
                </a:solidFill>
                <a:latin typeface="Avenir Next"/>
                <a:ea typeface="PingFang SC"/>
              </a:rPr>
              <a:t>但它来自真实的自然现象。</a:t>
            </a:r>
            <a:endParaRPr lang="zh-CN" sz="1300"/>
          </a:p>
        </p:txBody>
      </p:sp>
      <p:sp>
        <p:nvSpPr>
          <p:cNvPr id="14" name="Shape 14"/>
          <p:cNvSpPr/>
          <p:nvPr/>
        </p:nvSpPr>
        <p:spPr>
          <a:xfrm>
            <a:off x="6400800" y="1325880"/>
            <a:ext cx="4114800" cy="1005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6400800" y="1325880"/>
            <a:ext cx="73152" cy="100584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 16"/>
          <p:cNvSpPr txBox="1"/>
          <p:nvPr/>
        </p:nvSpPr>
        <p:spPr>
          <a:xfrm>
            <a:off x="6601968" y="1453896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传统学习的问题</a:t>
            </a:r>
            <a:endParaRPr lang="zh-CN" sz="1180"/>
          </a:p>
        </p:txBody>
      </p:sp>
      <p:sp>
        <p:nvSpPr>
          <p:cNvPr id="17" name="Text 17"/>
          <p:cNvSpPr txBox="1"/>
          <p:nvPr/>
        </p:nvSpPr>
        <p:spPr>
          <a:xfrm>
            <a:off x="6601968" y="1837944"/>
            <a:ext cx="376732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只看文字、图片和视频，有时不够直观。</a:t>
            </a:r>
            <a:endParaRPr lang="zh-CN" sz="1050"/>
          </a:p>
        </p:txBody>
      </p:sp>
      <p:sp>
        <p:nvSpPr>
          <p:cNvPr id="18" name="Shape 18"/>
          <p:cNvSpPr/>
          <p:nvPr/>
        </p:nvSpPr>
        <p:spPr>
          <a:xfrm>
            <a:off x="6400800" y="2651760"/>
            <a:ext cx="4114800" cy="1005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9" name="Shape 19"/>
          <p:cNvSpPr/>
          <p:nvPr/>
        </p:nvSpPr>
        <p:spPr>
          <a:xfrm>
            <a:off x="6400800" y="2651760"/>
            <a:ext cx="73152" cy="100584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6601968" y="2779776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我的想法</a:t>
            </a:r>
            <a:endParaRPr lang="zh-CN" sz="1180"/>
          </a:p>
        </p:txBody>
      </p:sp>
      <p:sp>
        <p:nvSpPr>
          <p:cNvPr id="21" name="Text 21"/>
          <p:cNvSpPr txBox="1"/>
          <p:nvPr/>
        </p:nvSpPr>
        <p:spPr>
          <a:xfrm>
            <a:off x="6601968" y="3163824"/>
            <a:ext cx="376732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把生物知识做成一个可以玩的模拟器。</a:t>
            </a:r>
            <a:endParaRPr lang="zh-CN" sz="1050"/>
          </a:p>
        </p:txBody>
      </p:sp>
      <p:sp>
        <p:nvSpPr>
          <p:cNvPr id="22" name="Shape 22"/>
          <p:cNvSpPr/>
          <p:nvPr/>
        </p:nvSpPr>
        <p:spPr>
          <a:xfrm>
            <a:off x="6400800" y="3977639"/>
            <a:ext cx="4114800" cy="10058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3" name="Shape 23"/>
          <p:cNvSpPr/>
          <p:nvPr/>
        </p:nvSpPr>
        <p:spPr>
          <a:xfrm>
            <a:off x="6400800" y="3977639"/>
            <a:ext cx="73152" cy="10058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4" name="Text 24"/>
          <p:cNvSpPr txBox="1"/>
          <p:nvPr/>
        </p:nvSpPr>
        <p:spPr>
          <a:xfrm>
            <a:off x="6601968" y="4105655"/>
            <a:ext cx="37947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学习目标</a:t>
            </a:r>
            <a:endParaRPr lang="zh-CN" sz="1180"/>
          </a:p>
        </p:txBody>
      </p:sp>
      <p:sp>
        <p:nvSpPr>
          <p:cNvPr id="25" name="Text 25"/>
          <p:cNvSpPr txBox="1"/>
          <p:nvPr/>
        </p:nvSpPr>
        <p:spPr>
          <a:xfrm>
            <a:off x="6601968" y="4489703"/>
            <a:ext cx="376732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边操作、边观察、边理解自然过程。</a:t>
            </a:r>
            <a:endParaRPr lang="zh-CN" sz="1050"/>
          </a:p>
        </p:txBody>
      </p:sp>
      <p:sp>
        <p:nvSpPr>
          <p:cNvPr id="26" name="Text 26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3/12</a:t>
            </a:r>
            <a:endParaRPr lang="zh-CN" sz="7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科普 + 游戏 + AI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项目是什么</a:t>
            </a:r>
            <a:endParaRPr lang="zh-CN" sz="2200"/>
          </a:p>
        </p:txBody>
      </p:sp>
      <p:sp>
        <p:nvSpPr>
          <p:cNvPr id="11" name="Text 11"/>
          <p:cNvSpPr txBox="1"/>
          <p:nvPr/>
        </p:nvSpPr>
        <p:spPr>
          <a:xfrm>
            <a:off x="713232" y="155448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100" b="1">
                <a:solidFill>
                  <a:srgbClr val="9F1E1E"/>
                </a:solidFill>
                <a:latin typeface="Avenir Next"/>
                <a:ea typeface="PingFang SC"/>
              </a:rPr>
              <a:t>Fungi Simulator</a:t>
            </a:r>
            <a:endParaRPr lang="zh-CN" sz="2100"/>
          </a:p>
          <a:p>
            <a:pPr algn="l" marL="0" indent="0">
              <a:buNone/>
            </a:pPr>
            <a:r>
              <a:rPr lang="zh-CN" sz="2100" b="1">
                <a:solidFill>
                  <a:srgbClr val="9F1E1E"/>
                </a:solidFill>
                <a:latin typeface="Avenir Next"/>
                <a:ea typeface="PingFang SC"/>
              </a:rPr>
              <a:t>真菌猎手：智能科普对抗系统</a:t>
            </a:r>
            <a:endParaRPr lang="zh-CN" sz="2100"/>
          </a:p>
        </p:txBody>
      </p:sp>
      <p:sp>
        <p:nvSpPr>
          <p:cNvPr id="12" name="Shape 12"/>
          <p:cNvSpPr/>
          <p:nvPr/>
        </p:nvSpPr>
        <p:spPr>
          <a:xfrm>
            <a:off x="777240" y="274320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 13"/>
          <p:cNvSpPr/>
          <p:nvPr/>
        </p:nvSpPr>
        <p:spPr>
          <a:xfrm>
            <a:off x="777240" y="2743200"/>
            <a:ext cx="73152" cy="192024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 14"/>
          <p:cNvSpPr txBox="1"/>
          <p:nvPr/>
        </p:nvSpPr>
        <p:spPr>
          <a:xfrm>
            <a:off x="978408" y="2871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它是一个科普小游戏</a:t>
            </a:r>
            <a:endParaRPr lang="zh-CN" sz="1180"/>
          </a:p>
        </p:txBody>
      </p:sp>
      <p:sp>
        <p:nvSpPr>
          <p:cNvPr id="15" name="Text 15"/>
          <p:cNvSpPr txBox="1"/>
          <p:nvPr/>
        </p:nvSpPr>
        <p:spPr>
          <a:xfrm>
            <a:off x="978408" y="325526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通过玩家操作理解寄生真菌和昆虫宿主之间的互动。</a:t>
            </a:r>
            <a:endParaRPr lang="zh-CN" sz="1050"/>
          </a:p>
        </p:txBody>
      </p:sp>
      <p:sp>
        <p:nvSpPr>
          <p:cNvPr id="16" name="Shape 16"/>
          <p:cNvSpPr/>
          <p:nvPr/>
        </p:nvSpPr>
        <p:spPr>
          <a:xfrm>
            <a:off x="4251960" y="274320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Shape 17"/>
          <p:cNvSpPr/>
          <p:nvPr/>
        </p:nvSpPr>
        <p:spPr>
          <a:xfrm>
            <a:off x="4251960" y="2743200"/>
            <a:ext cx="73152" cy="19202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Text 18"/>
          <p:cNvSpPr txBox="1"/>
          <p:nvPr/>
        </p:nvSpPr>
        <p:spPr>
          <a:xfrm>
            <a:off x="4453128" y="2871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它能模拟一场博弈</a:t>
            </a:r>
            <a:endParaRPr lang="zh-CN" sz="1180"/>
          </a:p>
        </p:txBody>
      </p:sp>
      <p:sp>
        <p:nvSpPr>
          <p:cNvPr id="19" name="Text 19"/>
          <p:cNvSpPr txBox="1"/>
          <p:nvPr/>
        </p:nvSpPr>
        <p:spPr>
          <a:xfrm>
            <a:off x="4453128" y="325526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真菌布置孢子，宿主寻找巢穴，双方目标不同。</a:t>
            </a:r>
            <a:endParaRPr lang="zh-CN" sz="1050"/>
          </a:p>
        </p:txBody>
      </p:sp>
      <p:sp>
        <p:nvSpPr>
          <p:cNvPr id="20" name="Shape 20"/>
          <p:cNvSpPr/>
          <p:nvPr/>
        </p:nvSpPr>
        <p:spPr>
          <a:xfrm>
            <a:off x="7726679" y="274320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7726679" y="2743200"/>
            <a:ext cx="73152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ext 22"/>
          <p:cNvSpPr txBox="1"/>
          <p:nvPr/>
        </p:nvSpPr>
        <p:spPr>
          <a:xfrm>
            <a:off x="7927847" y="2871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它有 AI 帮忙解释</a:t>
            </a:r>
            <a:endParaRPr lang="zh-CN" sz="1180"/>
          </a:p>
        </p:txBody>
      </p:sp>
      <p:sp>
        <p:nvSpPr>
          <p:cNvPr id="23" name="Text 23"/>
          <p:cNvSpPr txBox="1"/>
          <p:nvPr/>
        </p:nvSpPr>
        <p:spPr>
          <a:xfrm>
            <a:off x="7927847" y="325526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AI 可以生成策略，也可以回答生物知识问题。</a:t>
            </a:r>
            <a:endParaRPr lang="zh-CN" sz="1050"/>
          </a:p>
        </p:txBody>
      </p:sp>
      <p:sp>
        <p:nvSpPr>
          <p:cNvPr id="24" name="Text 24"/>
          <p:cNvSpPr txBox="1"/>
          <p:nvPr/>
        </p:nvSpPr>
        <p:spPr>
          <a:xfrm>
            <a:off x="6400800" y="146304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320" b="1">
                <a:solidFill>
                  <a:srgbClr val="985151"/>
                </a:solidFill>
                <a:latin typeface="Avenir Next"/>
                <a:ea typeface="PingFang SC"/>
              </a:rPr>
              <a:t>适合课堂演示、学生探索，也适合家长和孩子一起体验。</a:t>
            </a:r>
            <a:endParaRPr lang="zh-CN" sz="1320"/>
          </a:p>
        </p:txBody>
      </p:sp>
      <p:sp>
        <p:nvSpPr>
          <p:cNvPr id="25" name="Text 25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4/12</a:t>
            </a:r>
            <a:endParaRPr lang="zh-CN" sz="7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四步看懂游戏流程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项目怎么玩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685800" y="1828800"/>
            <a:ext cx="2148840" cy="3017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850392" y="2057400"/>
            <a:ext cx="502920" cy="50292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700" b="1">
                <a:solidFill>
                  <a:srgbClr val="FFF8F5"/>
                </a:solidFill>
                <a:latin typeface="Avenir Next"/>
                <a:ea typeface="PingFang SC"/>
              </a:rPr>
              <a:t>1</a:t>
            </a:r>
            <a:endParaRPr lang="zh-CN" sz="1700"/>
          </a:p>
        </p:txBody>
      </p:sp>
      <p:sp>
        <p:nvSpPr>
          <p:cNvPr id="13" name="Text 13"/>
          <p:cNvSpPr txBox="1"/>
          <p:nvPr/>
        </p:nvSpPr>
        <p:spPr>
          <a:xfrm>
            <a:off x="850392" y="27432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250" b="1">
                <a:solidFill>
                  <a:srgbClr val="9F1E1E"/>
                </a:solidFill>
                <a:latin typeface="Avenir Next"/>
                <a:ea typeface="PingFang SC"/>
              </a:rPr>
              <a:t>选择配置</a:t>
            </a:r>
            <a:endParaRPr lang="zh-CN" sz="1250"/>
          </a:p>
        </p:txBody>
      </p:sp>
      <p:sp>
        <p:nvSpPr>
          <p:cNvPr id="14" name="Text 14"/>
          <p:cNvSpPr txBox="1"/>
          <p:nvPr/>
        </p:nvSpPr>
        <p:spPr>
          <a:xfrm>
            <a:off x="850392" y="32461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20" b="0">
                <a:solidFill>
                  <a:srgbClr val="7B2525"/>
                </a:solidFill>
                <a:latin typeface="Avenir Next"/>
                <a:ea typeface="PingFang SC"/>
              </a:rPr>
              <a:t>角色、宿主、环境和真菌类型</a:t>
            </a:r>
            <a:endParaRPr lang="zh-CN" sz="1020"/>
          </a:p>
        </p:txBody>
      </p:sp>
      <p:sp>
        <p:nvSpPr>
          <p:cNvPr id="15" name="Text 15"/>
          <p:cNvSpPr txBox="1"/>
          <p:nvPr/>
        </p:nvSpPr>
        <p:spPr>
          <a:xfrm>
            <a:off x="2953512" y="30906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600" b="1">
                <a:solidFill>
                  <a:srgbClr val="D9392E"/>
                </a:solidFill>
                <a:latin typeface="Avenir Next"/>
                <a:ea typeface="PingFang SC"/>
              </a:rPr>
              <a:t>→</a:t>
            </a:r>
            <a:endParaRPr lang="zh-CN" sz="1600"/>
          </a:p>
        </p:txBody>
      </p:sp>
      <p:sp>
        <p:nvSpPr>
          <p:cNvPr id="16" name="Shape 16"/>
          <p:cNvSpPr/>
          <p:nvPr/>
        </p:nvSpPr>
        <p:spPr>
          <a:xfrm>
            <a:off x="3474720" y="1828800"/>
            <a:ext cx="2148840" cy="3017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3639312" y="2057400"/>
            <a:ext cx="502920" cy="5029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700" b="1">
                <a:solidFill>
                  <a:srgbClr val="FFF8F5"/>
                </a:solidFill>
                <a:latin typeface="Avenir Next"/>
                <a:ea typeface="PingFang SC"/>
              </a:rPr>
              <a:t>2</a:t>
            </a:r>
            <a:endParaRPr lang="zh-CN" sz="1700"/>
          </a:p>
        </p:txBody>
      </p:sp>
      <p:sp>
        <p:nvSpPr>
          <p:cNvPr id="18" name="Text 18"/>
          <p:cNvSpPr txBox="1"/>
          <p:nvPr/>
        </p:nvSpPr>
        <p:spPr>
          <a:xfrm>
            <a:off x="3639312" y="27432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250" b="1">
                <a:solidFill>
                  <a:srgbClr val="9F1E1E"/>
                </a:solidFill>
                <a:latin typeface="Avenir Next"/>
                <a:ea typeface="PingFang SC"/>
              </a:rPr>
              <a:t>布置孢子</a:t>
            </a:r>
            <a:endParaRPr lang="zh-CN" sz="1250"/>
          </a:p>
        </p:txBody>
      </p:sp>
      <p:sp>
        <p:nvSpPr>
          <p:cNvPr id="19" name="Text 19"/>
          <p:cNvSpPr txBox="1"/>
          <p:nvPr/>
        </p:nvSpPr>
        <p:spPr>
          <a:xfrm>
            <a:off x="3639312" y="32461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20" b="0">
                <a:solidFill>
                  <a:srgbClr val="7B2525"/>
                </a:solidFill>
                <a:latin typeface="Avenir Next"/>
                <a:ea typeface="PingFang SC"/>
              </a:rPr>
              <a:t>真菌方设置“埋伏点”</a:t>
            </a:r>
            <a:endParaRPr lang="zh-CN" sz="1020"/>
          </a:p>
        </p:txBody>
      </p:sp>
      <p:sp>
        <p:nvSpPr>
          <p:cNvPr id="20" name="Text 20"/>
          <p:cNvSpPr txBox="1"/>
          <p:nvPr/>
        </p:nvSpPr>
        <p:spPr>
          <a:xfrm>
            <a:off x="5742431" y="30906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600" b="1">
                <a:solidFill>
                  <a:srgbClr val="D9392E"/>
                </a:solidFill>
                <a:latin typeface="Avenir Next"/>
                <a:ea typeface="PingFang SC"/>
              </a:rPr>
              <a:t>→</a:t>
            </a:r>
            <a:endParaRPr lang="zh-CN" sz="1600"/>
          </a:p>
        </p:txBody>
      </p:sp>
      <p:sp>
        <p:nvSpPr>
          <p:cNvPr id="21" name="Shape 21"/>
          <p:cNvSpPr/>
          <p:nvPr/>
        </p:nvSpPr>
        <p:spPr>
          <a:xfrm>
            <a:off x="6263640" y="1828800"/>
            <a:ext cx="2148840" cy="3017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2" name="Text 22"/>
          <p:cNvSpPr txBox="1"/>
          <p:nvPr/>
        </p:nvSpPr>
        <p:spPr>
          <a:xfrm>
            <a:off x="6428231" y="2057400"/>
            <a:ext cx="502920" cy="50292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700" b="1">
                <a:solidFill>
                  <a:srgbClr val="FFF8F5"/>
                </a:solidFill>
                <a:latin typeface="Avenir Next"/>
                <a:ea typeface="PingFang SC"/>
              </a:rPr>
              <a:t>3</a:t>
            </a:r>
            <a:endParaRPr lang="zh-CN" sz="1700"/>
          </a:p>
        </p:txBody>
      </p:sp>
      <p:sp>
        <p:nvSpPr>
          <p:cNvPr id="23" name="Text 23"/>
          <p:cNvSpPr txBox="1"/>
          <p:nvPr/>
        </p:nvSpPr>
        <p:spPr>
          <a:xfrm>
            <a:off x="6428231" y="27432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250" b="1">
                <a:solidFill>
                  <a:srgbClr val="9F1E1E"/>
                </a:solidFill>
                <a:latin typeface="Avenir Next"/>
                <a:ea typeface="PingFang SC"/>
              </a:rPr>
              <a:t>宿主移动</a:t>
            </a:r>
            <a:endParaRPr lang="zh-CN" sz="1250"/>
          </a:p>
        </p:txBody>
      </p:sp>
      <p:sp>
        <p:nvSpPr>
          <p:cNvPr id="24" name="Text 24"/>
          <p:cNvSpPr txBox="1"/>
          <p:nvPr/>
        </p:nvSpPr>
        <p:spPr>
          <a:xfrm>
            <a:off x="6428231" y="32461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20" b="0">
                <a:solidFill>
                  <a:srgbClr val="7B2525"/>
                </a:solidFill>
                <a:latin typeface="Avenir Next"/>
                <a:ea typeface="PingFang SC"/>
              </a:rPr>
              <a:t>有限步数内寻找巢穴</a:t>
            </a:r>
            <a:endParaRPr lang="zh-CN" sz="1020"/>
          </a:p>
        </p:txBody>
      </p:sp>
      <p:sp>
        <p:nvSpPr>
          <p:cNvPr id="25" name="Text 25"/>
          <p:cNvSpPr txBox="1"/>
          <p:nvPr/>
        </p:nvSpPr>
        <p:spPr>
          <a:xfrm>
            <a:off x="8531352" y="30906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600" b="1">
                <a:solidFill>
                  <a:srgbClr val="D9392E"/>
                </a:solidFill>
                <a:latin typeface="Avenir Next"/>
                <a:ea typeface="PingFang SC"/>
              </a:rPr>
              <a:t>→</a:t>
            </a:r>
            <a:endParaRPr lang="zh-CN" sz="1600"/>
          </a:p>
        </p:txBody>
      </p:sp>
      <p:sp>
        <p:nvSpPr>
          <p:cNvPr id="26" name="Shape 26"/>
          <p:cNvSpPr/>
          <p:nvPr/>
        </p:nvSpPr>
        <p:spPr>
          <a:xfrm>
            <a:off x="9052559" y="1828800"/>
            <a:ext cx="2148840" cy="30175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7" name="Text 27"/>
          <p:cNvSpPr txBox="1"/>
          <p:nvPr/>
        </p:nvSpPr>
        <p:spPr>
          <a:xfrm>
            <a:off x="9217151" y="2057400"/>
            <a:ext cx="502920" cy="5029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700" b="1">
                <a:solidFill>
                  <a:srgbClr val="FFF8F5"/>
                </a:solidFill>
                <a:latin typeface="Avenir Next"/>
                <a:ea typeface="PingFang SC"/>
              </a:rPr>
              <a:t>4</a:t>
            </a:r>
            <a:endParaRPr lang="zh-CN" sz="1700"/>
          </a:p>
        </p:txBody>
      </p:sp>
      <p:sp>
        <p:nvSpPr>
          <p:cNvPr id="28" name="Text 28"/>
          <p:cNvSpPr txBox="1"/>
          <p:nvPr/>
        </p:nvSpPr>
        <p:spPr>
          <a:xfrm>
            <a:off x="9217151" y="2743200"/>
            <a:ext cx="1783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250" b="1">
                <a:solidFill>
                  <a:srgbClr val="9F1E1E"/>
                </a:solidFill>
                <a:latin typeface="Avenir Next"/>
                <a:ea typeface="PingFang SC"/>
              </a:rPr>
              <a:t>感染与解释</a:t>
            </a:r>
            <a:endParaRPr lang="zh-CN" sz="1250"/>
          </a:p>
        </p:txBody>
      </p:sp>
      <p:sp>
        <p:nvSpPr>
          <p:cNvPr id="29" name="Text 29"/>
          <p:cNvSpPr txBox="1"/>
          <p:nvPr/>
        </p:nvSpPr>
        <p:spPr>
          <a:xfrm>
            <a:off x="9217151" y="3246120"/>
            <a:ext cx="1737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20" b="0">
                <a:solidFill>
                  <a:srgbClr val="7B2525"/>
                </a:solidFill>
                <a:latin typeface="Avenir Next"/>
                <a:ea typeface="PingFang SC"/>
              </a:rPr>
              <a:t>触发后展示阶段和科学解说</a:t>
            </a:r>
            <a:endParaRPr lang="zh-CN" sz="1020"/>
          </a:p>
        </p:txBody>
      </p:sp>
      <p:sp>
        <p:nvSpPr>
          <p:cNvPr id="30" name="Text 30"/>
          <p:cNvSpPr txBox="1"/>
          <p:nvPr/>
        </p:nvSpPr>
        <p:spPr>
          <a:xfrm>
            <a:off x="1051560" y="5349240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160" b="1">
                <a:solidFill>
                  <a:srgbClr val="9F1E1E"/>
                </a:solidFill>
                <a:latin typeface="Avenir Next"/>
                <a:ea typeface="PingFang SC"/>
              </a:rPr>
              <a:t>目标：让大家在游戏中自然理解一个科学过程，而不是只靠背诵概念。</a:t>
            </a:r>
            <a:endParaRPr lang="zh-CN" sz="1160"/>
          </a:p>
        </p:txBody>
      </p:sp>
      <p:sp>
        <p:nvSpPr>
          <p:cNvPr id="31" name="Text 31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5/12</a:t>
            </a:r>
            <a:endParaRPr lang="zh-CN" sz="7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准备好演示，也准备好备用方案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现场演示路线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731520" y="1508760"/>
            <a:ext cx="466344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731520" y="1508760"/>
            <a:ext cx="73152" cy="406908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932688" y="1636776"/>
            <a:ext cx="4343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演示顺序</a:t>
            </a:r>
            <a:endParaRPr lang="zh-CN" sz="1180"/>
          </a:p>
        </p:txBody>
      </p:sp>
      <p:sp>
        <p:nvSpPr>
          <p:cNvPr id="14" name="Text 14"/>
          <p:cNvSpPr txBox="1"/>
          <p:nvPr/>
        </p:nvSpPr>
        <p:spPr>
          <a:xfrm>
            <a:off x="932688" y="2020824"/>
            <a:ext cx="4315968" cy="34838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打开项目页面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选择角色和生物类型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开始游戏，展示三层地图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点击 AI 生成策略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展示问答或感染阶段</a:t>
            </a:r>
            <a:endParaRPr lang="zh-CN" sz="1080"/>
          </a:p>
        </p:txBody>
      </p:sp>
      <p:sp>
        <p:nvSpPr>
          <p:cNvPr id="15" name="Shape 15"/>
          <p:cNvSpPr/>
          <p:nvPr/>
        </p:nvSpPr>
        <p:spPr>
          <a:xfrm>
            <a:off x="5897880" y="1508760"/>
            <a:ext cx="4663440" cy="40690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5897880" y="1508760"/>
            <a:ext cx="73152" cy="406908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6099048" y="1636776"/>
            <a:ext cx="43434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备用讲法</a:t>
            </a:r>
            <a:endParaRPr lang="zh-CN" sz="1180"/>
          </a:p>
        </p:txBody>
      </p:sp>
      <p:sp>
        <p:nvSpPr>
          <p:cNvPr id="18" name="Text 18"/>
          <p:cNvSpPr txBox="1"/>
          <p:nvPr/>
        </p:nvSpPr>
        <p:spPr>
          <a:xfrm>
            <a:off x="6099048" y="2020824"/>
            <a:ext cx="4315968" cy="34838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AI 生成慢：先用随机布阵继续演示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问答失败：讲“先查资料再回答”的设计</a:t>
            </a:r>
            <a:endParaRPr lang="zh-CN" sz="1080"/>
          </a:p>
          <a:p>
            <a:pPr algn="l" marL="285750" indent="-142875">
              <a:buChar char="•"/>
              <a:buFont typeface="PingFang SC"/>
            </a:pPr>
            <a:r>
              <a:rPr lang="zh-CN" sz="1080" b="0">
                <a:solidFill>
                  <a:srgbClr val="7B2525"/>
                </a:solidFill>
                <a:latin typeface="Avenir Next"/>
                <a:ea typeface="PingFang SC"/>
              </a:rPr>
              <a:t>页面卡住：用界面讲解项目结构</a:t>
            </a:r>
            <a:endParaRPr lang="zh-CN" sz="1080"/>
          </a:p>
        </p:txBody>
      </p:sp>
      <p:sp>
        <p:nvSpPr>
          <p:cNvPr id="19" name="Text 19"/>
          <p:cNvSpPr txBox="1"/>
          <p:nvPr/>
        </p:nvSpPr>
        <p:spPr>
          <a:xfrm>
            <a:off x="914400" y="5715000"/>
            <a:ext cx="9784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050" b="1">
                <a:solidFill>
                  <a:srgbClr val="985151"/>
                </a:solidFill>
                <a:latin typeface="Avenir Next"/>
                <a:ea typeface="PingFang SC"/>
              </a:rPr>
              <a:t>现场演示重点不是炫技术，而是让大家看懂：一个想法如何变成可运行的作品。</a:t>
            </a:r>
            <a:endParaRPr lang="zh-CN" sz="1050"/>
          </a:p>
        </p:txBody>
      </p:sp>
      <p:sp>
        <p:nvSpPr>
          <p:cNvPr id="20" name="Text 20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6/12</a:t>
            </a:r>
            <a:endParaRPr lang="zh-CN" sz="7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把技术词翻译成人话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我在课程里学到的 AI 方法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777240" y="1600200"/>
            <a:ext cx="310896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777240" y="1600200"/>
            <a:ext cx="73152" cy="33375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978408" y="1728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Prompt Engineering</a:t>
            </a:r>
            <a:endParaRPr lang="zh-CN" sz="1180"/>
          </a:p>
        </p:txBody>
      </p:sp>
      <p:sp>
        <p:nvSpPr>
          <p:cNvPr id="14" name="Text 14"/>
          <p:cNvSpPr txBox="1"/>
          <p:nvPr/>
        </p:nvSpPr>
        <p:spPr>
          <a:xfrm>
            <a:off x="978408" y="2112264"/>
            <a:ext cx="2761488" cy="2752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人话解释：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给 AI 写清楚任务说明。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例子：告诉 AI 地图规则、输出格式和限制条件。</a:t>
            </a:r>
            <a:endParaRPr lang="zh-CN" sz="980"/>
          </a:p>
        </p:txBody>
      </p:sp>
      <p:sp>
        <p:nvSpPr>
          <p:cNvPr id="15" name="Shape 15"/>
          <p:cNvSpPr/>
          <p:nvPr/>
        </p:nvSpPr>
        <p:spPr>
          <a:xfrm>
            <a:off x="4434840" y="1600200"/>
            <a:ext cx="310896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4434840" y="1600200"/>
            <a:ext cx="73152" cy="333756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4636008" y="1728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RAG</a:t>
            </a:r>
            <a:endParaRPr lang="zh-CN" sz="1180"/>
          </a:p>
        </p:txBody>
      </p:sp>
      <p:sp>
        <p:nvSpPr>
          <p:cNvPr id="18" name="Text 18"/>
          <p:cNvSpPr txBox="1"/>
          <p:nvPr/>
        </p:nvSpPr>
        <p:spPr>
          <a:xfrm>
            <a:off x="4636008" y="2112264"/>
            <a:ext cx="2761488" cy="2752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人话解释：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让 AI 先查资料，再回答问题。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这样可以减少“看起来流畅但不准确”的回答。</a:t>
            </a:r>
            <a:endParaRPr lang="zh-CN" sz="980"/>
          </a:p>
        </p:txBody>
      </p:sp>
      <p:sp>
        <p:nvSpPr>
          <p:cNvPr id="19" name="Shape 19"/>
          <p:cNvSpPr/>
          <p:nvPr/>
        </p:nvSpPr>
        <p:spPr>
          <a:xfrm>
            <a:off x="8092440" y="1600200"/>
            <a:ext cx="310896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8092440" y="1600200"/>
            <a:ext cx="73152" cy="3337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 21"/>
          <p:cNvSpPr txBox="1"/>
          <p:nvPr/>
        </p:nvSpPr>
        <p:spPr>
          <a:xfrm>
            <a:off x="8293608" y="172821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Skill</a:t>
            </a:r>
            <a:endParaRPr lang="zh-CN" sz="1180"/>
          </a:p>
        </p:txBody>
      </p:sp>
      <p:sp>
        <p:nvSpPr>
          <p:cNvPr id="22" name="Text 22"/>
          <p:cNvSpPr txBox="1"/>
          <p:nvPr/>
        </p:nvSpPr>
        <p:spPr>
          <a:xfrm>
            <a:off x="8293608" y="2112264"/>
            <a:ext cx="2761488" cy="27523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人话解释：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把复杂任务拆成一套步骤。</a:t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/>
            </a:r>
            <a:endParaRPr lang="zh-CN" sz="980"/>
          </a:p>
          <a:p>
            <a:pPr algn="l" marL="0" indent="0">
              <a:buNone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就像给 AI 一张“做事流程卡”。</a:t>
            </a:r>
            <a:endParaRPr lang="zh-CN" sz="980"/>
          </a:p>
        </p:txBody>
      </p:sp>
      <p:sp>
        <p:nvSpPr>
          <p:cNvPr id="23" name="Text 23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7/12</a:t>
            </a:r>
            <a:endParaRPr lang="zh-CN" sz="7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我和 AI 的合作方式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这些方法在项目里怎么用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777240" y="1600200"/>
            <a:ext cx="2423160" cy="1188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941832" y="1764792"/>
            <a:ext cx="411480" cy="41148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F8F5"/>
                </a:solidFill>
                <a:latin typeface="Avenir Next"/>
                <a:ea typeface="PingFang SC"/>
              </a:rPr>
              <a:t>1</a:t>
            </a:r>
            <a:endParaRPr lang="zh-CN" sz="1300"/>
          </a:p>
        </p:txBody>
      </p:sp>
      <p:sp>
        <p:nvSpPr>
          <p:cNvPr id="13" name="Text 13"/>
          <p:cNvSpPr txBox="1"/>
          <p:nvPr/>
        </p:nvSpPr>
        <p:spPr>
          <a:xfrm>
            <a:off x="1490472" y="176479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1">
                <a:solidFill>
                  <a:srgbClr val="9F1E1E"/>
                </a:solidFill>
                <a:latin typeface="Avenir Next"/>
                <a:ea typeface="PingFang SC"/>
              </a:rPr>
              <a:t>我提出目标</a:t>
            </a:r>
            <a:endParaRPr lang="zh-CN" sz="1030"/>
          </a:p>
        </p:txBody>
      </p:sp>
      <p:sp>
        <p:nvSpPr>
          <p:cNvPr id="14" name="Text 14"/>
          <p:cNvSpPr txBox="1"/>
          <p:nvPr/>
        </p:nvSpPr>
        <p:spPr>
          <a:xfrm>
            <a:off x="1490472" y="216712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0">
                <a:solidFill>
                  <a:srgbClr val="7B2525"/>
                </a:solidFill>
                <a:latin typeface="Avenir Next"/>
                <a:ea typeface="PingFang SC"/>
              </a:rPr>
              <a:t>把任务讲清楚</a:t>
            </a:r>
            <a:endParaRPr lang="zh-CN" sz="850"/>
          </a:p>
        </p:txBody>
      </p:sp>
      <p:sp>
        <p:nvSpPr>
          <p:cNvPr id="15" name="Shape 15"/>
          <p:cNvSpPr/>
          <p:nvPr/>
        </p:nvSpPr>
        <p:spPr>
          <a:xfrm>
            <a:off x="3657600" y="1600200"/>
            <a:ext cx="2423160" cy="1188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Text 16"/>
          <p:cNvSpPr txBox="1"/>
          <p:nvPr/>
        </p:nvSpPr>
        <p:spPr>
          <a:xfrm>
            <a:off x="3822191" y="1764792"/>
            <a:ext cx="411480" cy="41148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F8F5"/>
                </a:solidFill>
                <a:latin typeface="Avenir Next"/>
                <a:ea typeface="PingFang SC"/>
              </a:rPr>
              <a:t>2</a:t>
            </a:r>
            <a:endParaRPr lang="zh-CN" sz="1300"/>
          </a:p>
        </p:txBody>
      </p:sp>
      <p:sp>
        <p:nvSpPr>
          <p:cNvPr id="17" name="Text 17"/>
          <p:cNvSpPr txBox="1"/>
          <p:nvPr/>
        </p:nvSpPr>
        <p:spPr>
          <a:xfrm>
            <a:off x="4370832" y="176479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1">
                <a:solidFill>
                  <a:srgbClr val="9F1E1E"/>
                </a:solidFill>
                <a:latin typeface="Avenir Next"/>
                <a:ea typeface="PingFang SC"/>
              </a:rPr>
              <a:t>AI 完成一部分</a:t>
            </a:r>
            <a:endParaRPr lang="zh-CN" sz="1030"/>
          </a:p>
        </p:txBody>
      </p:sp>
      <p:sp>
        <p:nvSpPr>
          <p:cNvPr id="18" name="Text 18"/>
          <p:cNvSpPr txBox="1"/>
          <p:nvPr/>
        </p:nvSpPr>
        <p:spPr>
          <a:xfrm>
            <a:off x="4370832" y="216712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0">
                <a:solidFill>
                  <a:srgbClr val="7B2525"/>
                </a:solidFill>
                <a:latin typeface="Avenir Next"/>
                <a:ea typeface="PingFang SC"/>
              </a:rPr>
              <a:t>给出初稿或建议</a:t>
            </a:r>
            <a:endParaRPr lang="zh-CN" sz="850"/>
          </a:p>
        </p:txBody>
      </p:sp>
      <p:sp>
        <p:nvSpPr>
          <p:cNvPr id="19" name="Shape 19"/>
          <p:cNvSpPr/>
          <p:nvPr/>
        </p:nvSpPr>
        <p:spPr>
          <a:xfrm>
            <a:off x="777240" y="3474720"/>
            <a:ext cx="2423160" cy="1188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0" name="Text 20"/>
          <p:cNvSpPr txBox="1"/>
          <p:nvPr/>
        </p:nvSpPr>
        <p:spPr>
          <a:xfrm>
            <a:off x="941832" y="3639312"/>
            <a:ext cx="411480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F8F5"/>
                </a:solidFill>
                <a:latin typeface="Avenir Next"/>
                <a:ea typeface="PingFang SC"/>
              </a:rPr>
              <a:t>3</a:t>
            </a:r>
            <a:endParaRPr lang="zh-CN" sz="1300"/>
          </a:p>
        </p:txBody>
      </p:sp>
      <p:sp>
        <p:nvSpPr>
          <p:cNvPr id="21" name="Text 21"/>
          <p:cNvSpPr txBox="1"/>
          <p:nvPr/>
        </p:nvSpPr>
        <p:spPr>
          <a:xfrm>
            <a:off x="1490472" y="363931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1">
                <a:solidFill>
                  <a:srgbClr val="9F1E1E"/>
                </a:solidFill>
                <a:latin typeface="Avenir Next"/>
                <a:ea typeface="PingFang SC"/>
              </a:rPr>
              <a:t>我测试结果</a:t>
            </a:r>
            <a:endParaRPr lang="zh-CN" sz="1030"/>
          </a:p>
        </p:txBody>
      </p:sp>
      <p:sp>
        <p:nvSpPr>
          <p:cNvPr id="22" name="Text 22"/>
          <p:cNvSpPr txBox="1"/>
          <p:nvPr/>
        </p:nvSpPr>
        <p:spPr>
          <a:xfrm>
            <a:off x="1490472" y="404164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0">
                <a:solidFill>
                  <a:srgbClr val="7B2525"/>
                </a:solidFill>
                <a:latin typeface="Avenir Next"/>
                <a:ea typeface="PingFang SC"/>
              </a:rPr>
              <a:t>看它能不能真的用</a:t>
            </a:r>
            <a:endParaRPr lang="zh-CN" sz="850"/>
          </a:p>
        </p:txBody>
      </p:sp>
      <p:sp>
        <p:nvSpPr>
          <p:cNvPr id="23" name="Shape 23"/>
          <p:cNvSpPr/>
          <p:nvPr/>
        </p:nvSpPr>
        <p:spPr>
          <a:xfrm>
            <a:off x="3657600" y="3474720"/>
            <a:ext cx="2423160" cy="11887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Text 24"/>
          <p:cNvSpPr txBox="1"/>
          <p:nvPr/>
        </p:nvSpPr>
        <p:spPr>
          <a:xfrm>
            <a:off x="3822191" y="3639312"/>
            <a:ext cx="411480" cy="41148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1300" b="1">
                <a:solidFill>
                  <a:srgbClr val="FFF8F5"/>
                </a:solidFill>
                <a:latin typeface="Avenir Next"/>
                <a:ea typeface="PingFang SC"/>
              </a:rPr>
              <a:t>4</a:t>
            </a:r>
            <a:endParaRPr lang="zh-CN" sz="1300"/>
          </a:p>
        </p:txBody>
      </p:sp>
      <p:sp>
        <p:nvSpPr>
          <p:cNvPr id="25" name="Text 25"/>
          <p:cNvSpPr txBox="1"/>
          <p:nvPr/>
        </p:nvSpPr>
        <p:spPr>
          <a:xfrm>
            <a:off x="4370832" y="3639312"/>
            <a:ext cx="14630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30" b="1">
                <a:solidFill>
                  <a:srgbClr val="9F1E1E"/>
                </a:solidFill>
                <a:latin typeface="Avenir Next"/>
                <a:ea typeface="PingFang SC"/>
              </a:rPr>
              <a:t>继续修改</a:t>
            </a:r>
            <a:endParaRPr lang="zh-CN" sz="1030"/>
          </a:p>
        </p:txBody>
      </p:sp>
      <p:sp>
        <p:nvSpPr>
          <p:cNvPr id="26" name="Text 26"/>
          <p:cNvSpPr txBox="1"/>
          <p:nvPr/>
        </p:nvSpPr>
        <p:spPr>
          <a:xfrm>
            <a:off x="4370832" y="404164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850" b="0">
                <a:solidFill>
                  <a:srgbClr val="7B2525"/>
                </a:solidFill>
                <a:latin typeface="Avenir Next"/>
                <a:ea typeface="PingFang SC"/>
              </a:rPr>
              <a:t>我负责判断和整合</a:t>
            </a:r>
            <a:endParaRPr lang="zh-CN" sz="850"/>
          </a:p>
        </p:txBody>
      </p:sp>
      <p:sp>
        <p:nvSpPr>
          <p:cNvPr id="27" name="Text 27"/>
          <p:cNvSpPr txBox="1"/>
          <p:nvPr/>
        </p:nvSpPr>
        <p:spPr>
          <a:xfrm>
            <a:off x="1097280" y="5230368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980" b="1">
                <a:solidFill>
                  <a:srgbClr val="985151"/>
                </a:solidFill>
                <a:latin typeface="Avenir Next"/>
                <a:ea typeface="PingFang SC"/>
              </a:rPr>
              <a:t>这个循环会重复很多次，直到项目真的能用。</a:t>
            </a:r>
            <a:endParaRPr lang="zh-CN" sz="980"/>
          </a:p>
        </p:txBody>
      </p:sp>
      <p:sp>
        <p:nvSpPr>
          <p:cNvPr id="28" name="Shape 28"/>
          <p:cNvSpPr/>
          <p:nvPr/>
        </p:nvSpPr>
        <p:spPr>
          <a:xfrm>
            <a:off x="6217920" y="1600200"/>
            <a:ext cx="4251960" cy="33375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6217920" y="1600200"/>
            <a:ext cx="73152" cy="333756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" name="Text 30"/>
          <p:cNvSpPr txBox="1"/>
          <p:nvPr/>
        </p:nvSpPr>
        <p:spPr>
          <a:xfrm>
            <a:off x="6473952" y="18288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项目例子</a:t>
            </a:r>
            <a:endParaRPr lang="zh-CN" sz="1180"/>
          </a:p>
        </p:txBody>
      </p:sp>
      <p:sp>
        <p:nvSpPr>
          <p:cNvPr id="31" name="Text 31"/>
          <p:cNvSpPr txBox="1"/>
          <p:nvPr/>
        </p:nvSpPr>
        <p:spPr>
          <a:xfrm>
            <a:off x="6473952" y="2267712"/>
            <a:ext cx="35204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85750" indent="-142875">
              <a:buChar char="•"/>
              <a:buFont typeface="PingFang SC"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生成孢子策略</a:t>
            </a:r>
            <a:endParaRPr lang="zh-CN" sz="980"/>
          </a:p>
          <a:p>
            <a:pPr algn="l" marL="285750" indent="-142875">
              <a:buChar char="•"/>
              <a:buFont typeface="PingFang SC"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回答生物问题</a:t>
            </a:r>
            <a:endParaRPr lang="zh-CN" sz="980"/>
          </a:p>
          <a:p>
            <a:pPr algn="l" marL="285750" indent="-142875">
              <a:buChar char="•"/>
              <a:buFont typeface="PingFang SC"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检查报错</a:t>
            </a:r>
            <a:endParaRPr lang="zh-CN" sz="980"/>
          </a:p>
          <a:p>
            <a:pPr algn="l" marL="285750" indent="-142875">
              <a:buChar char="•"/>
              <a:buFont typeface="PingFang SC"/>
            </a:pPr>
            <a:r>
              <a:rPr lang="zh-CN" sz="980" b="0">
                <a:solidFill>
                  <a:srgbClr val="7B2525"/>
                </a:solidFill>
                <a:latin typeface="Avenir Next"/>
                <a:ea typeface="PingFang SC"/>
              </a:rPr>
              <a:t>整理讲稿和 PPT</a:t>
            </a:r>
            <a:endParaRPr lang="zh-CN" sz="980"/>
          </a:p>
        </p:txBody>
      </p:sp>
      <p:sp>
        <p:nvSpPr>
          <p:cNvPr id="32" name="Text 32"/>
          <p:cNvSpPr txBox="1"/>
          <p:nvPr/>
        </p:nvSpPr>
        <p:spPr>
          <a:xfrm>
            <a:off x="6473952" y="3977639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920" b="1">
                <a:solidFill>
                  <a:srgbClr val="9F1E1E"/>
                </a:solidFill>
                <a:latin typeface="Avenir Next"/>
                <a:ea typeface="PingFang SC"/>
              </a:rPr>
              <a:t>AI 是合作伙伴，不是自动完成一切的魔法按钮。</a:t>
            </a:r>
            <a:endParaRPr lang="zh-CN" sz="920"/>
          </a:p>
        </p:txBody>
      </p:sp>
      <p:sp>
        <p:nvSpPr>
          <p:cNvPr id="33" name="Text 33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8/12</a:t>
            </a:r>
            <a:endParaRPr lang="zh-CN" sz="7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困难也是学习的一部分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我遇到的挑战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685800" y="1417320"/>
            <a:ext cx="5120640" cy="4343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685800" y="1417320"/>
            <a:ext cx="73152" cy="434340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886968" y="1545336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遇到的问题</a:t>
            </a:r>
            <a:endParaRPr lang="zh-CN" sz="1180"/>
          </a:p>
        </p:txBody>
      </p:sp>
      <p:sp>
        <p:nvSpPr>
          <p:cNvPr id="14" name="Text 14"/>
          <p:cNvSpPr txBox="1"/>
          <p:nvPr/>
        </p:nvSpPr>
        <p:spPr>
          <a:xfrm>
            <a:off x="886968" y="1929384"/>
            <a:ext cx="4773168" cy="3758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游戏规则要能跑通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AI 回答要尽量准确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现场演示要稳定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我要把复杂技术讲给别人听懂</a:t>
            </a:r>
            <a:endParaRPr lang="zh-CN" sz="1120"/>
          </a:p>
        </p:txBody>
      </p:sp>
      <p:sp>
        <p:nvSpPr>
          <p:cNvPr id="15" name="Shape 15"/>
          <p:cNvSpPr/>
          <p:nvPr/>
        </p:nvSpPr>
        <p:spPr>
          <a:xfrm>
            <a:off x="6355080" y="1417320"/>
            <a:ext cx="5120640" cy="434340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6355080" y="1417320"/>
            <a:ext cx="73152" cy="4343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6556248" y="1545336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我的成长</a:t>
            </a:r>
            <a:endParaRPr lang="zh-CN" sz="1180"/>
          </a:p>
        </p:txBody>
      </p:sp>
      <p:sp>
        <p:nvSpPr>
          <p:cNvPr id="18" name="Text 18"/>
          <p:cNvSpPr txBox="1"/>
          <p:nvPr/>
        </p:nvSpPr>
        <p:spPr>
          <a:xfrm>
            <a:off x="6556248" y="1929384"/>
            <a:ext cx="4773168" cy="3758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学会把大问题拆成小问题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学会检查 AI 的回答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学会准备备用方案</a:t>
            </a:r>
            <a:endParaRPr lang="zh-CN" sz="1120"/>
          </a:p>
          <a:p>
            <a:pPr algn="l" marL="285750" indent="-142875">
              <a:buChar char="•"/>
              <a:buFont typeface="PingFang SC"/>
            </a:pPr>
            <a:r>
              <a:rPr lang="zh-CN" sz="1120" b="0">
                <a:solidFill>
                  <a:srgbClr val="7B2525"/>
                </a:solidFill>
                <a:latin typeface="Avenir Next"/>
                <a:ea typeface="PingFang SC"/>
              </a:rPr>
              <a:t>学会用简单语言解释复杂内容</a:t>
            </a:r>
            <a:endParaRPr lang="zh-CN" sz="1120"/>
          </a:p>
        </p:txBody>
      </p:sp>
      <p:sp>
        <p:nvSpPr>
          <p:cNvPr id="19" name="Text 19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9/12</a:t>
            </a:r>
            <a:endParaRPr lang="zh-CN" sz="7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项目还不是终点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我还想继续优化什么</a:t>
            </a:r>
            <a:endParaRPr lang="zh-CN" sz="2200"/>
          </a:p>
        </p:txBody>
      </p:sp>
      <p:sp>
        <p:nvSpPr>
          <p:cNvPr id="11" name="Shape 11"/>
          <p:cNvSpPr/>
          <p:nvPr/>
        </p:nvSpPr>
        <p:spPr>
          <a:xfrm>
            <a:off x="822960" y="1600200"/>
            <a:ext cx="480060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2" name="Shape 12"/>
          <p:cNvSpPr/>
          <p:nvPr/>
        </p:nvSpPr>
        <p:spPr>
          <a:xfrm>
            <a:off x="822960" y="1600200"/>
            <a:ext cx="73152" cy="141732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3" name="Text 13"/>
          <p:cNvSpPr txBox="1"/>
          <p:nvPr/>
        </p:nvSpPr>
        <p:spPr>
          <a:xfrm>
            <a:off x="1024128" y="1728216"/>
            <a:ext cx="44805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知识更多</a:t>
            </a:r>
            <a:endParaRPr lang="zh-CN" sz="1180"/>
          </a:p>
        </p:txBody>
      </p:sp>
      <p:sp>
        <p:nvSpPr>
          <p:cNvPr id="14" name="Text 14"/>
          <p:cNvSpPr txBox="1"/>
          <p:nvPr/>
        </p:nvSpPr>
        <p:spPr>
          <a:xfrm>
            <a:off x="1024128" y="2112264"/>
            <a:ext cx="445312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50" b="0">
                <a:solidFill>
                  <a:srgbClr val="7B2525"/>
                </a:solidFill>
                <a:latin typeface="Avenir Next"/>
                <a:ea typeface="PingFang SC"/>
              </a:rPr>
              <a:t>加入更多真菌和宿主案例</a:t>
            </a:r>
            <a:endParaRPr lang="zh-CN" sz="1150"/>
          </a:p>
        </p:txBody>
      </p:sp>
      <p:sp>
        <p:nvSpPr>
          <p:cNvPr id="15" name="Shape 15"/>
          <p:cNvSpPr/>
          <p:nvPr/>
        </p:nvSpPr>
        <p:spPr>
          <a:xfrm>
            <a:off x="6172200" y="1600200"/>
            <a:ext cx="480060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6" name="Shape 16"/>
          <p:cNvSpPr/>
          <p:nvPr/>
        </p:nvSpPr>
        <p:spPr>
          <a:xfrm>
            <a:off x="6172200" y="1600200"/>
            <a:ext cx="73152" cy="141732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7" name="Text 17"/>
          <p:cNvSpPr txBox="1"/>
          <p:nvPr/>
        </p:nvSpPr>
        <p:spPr>
          <a:xfrm>
            <a:off x="6373368" y="1728216"/>
            <a:ext cx="44805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画面更好</a:t>
            </a:r>
            <a:endParaRPr lang="zh-CN" sz="1180"/>
          </a:p>
        </p:txBody>
      </p:sp>
      <p:sp>
        <p:nvSpPr>
          <p:cNvPr id="18" name="Text 18"/>
          <p:cNvSpPr txBox="1"/>
          <p:nvPr/>
        </p:nvSpPr>
        <p:spPr>
          <a:xfrm>
            <a:off x="6373368" y="2112264"/>
            <a:ext cx="445312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50" b="0">
                <a:solidFill>
                  <a:srgbClr val="7B2525"/>
                </a:solidFill>
                <a:latin typeface="Avenir Next"/>
                <a:ea typeface="PingFang SC"/>
              </a:rPr>
              <a:t>让地图和角色更直观</a:t>
            </a:r>
            <a:endParaRPr lang="zh-CN" sz="1150"/>
          </a:p>
        </p:txBody>
      </p:sp>
      <p:sp>
        <p:nvSpPr>
          <p:cNvPr id="19" name="Shape 19"/>
          <p:cNvSpPr/>
          <p:nvPr/>
        </p:nvSpPr>
        <p:spPr>
          <a:xfrm>
            <a:off x="822960" y="3657600"/>
            <a:ext cx="480060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822960" y="3657600"/>
            <a:ext cx="73152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1" name="Text 21"/>
          <p:cNvSpPr txBox="1"/>
          <p:nvPr/>
        </p:nvSpPr>
        <p:spPr>
          <a:xfrm>
            <a:off x="1024128" y="3785616"/>
            <a:ext cx="44805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AI 更稳</a:t>
            </a:r>
            <a:endParaRPr lang="zh-CN" sz="1180"/>
          </a:p>
        </p:txBody>
      </p:sp>
      <p:sp>
        <p:nvSpPr>
          <p:cNvPr id="22" name="Text 22"/>
          <p:cNvSpPr txBox="1"/>
          <p:nvPr/>
        </p:nvSpPr>
        <p:spPr>
          <a:xfrm>
            <a:off x="1024128" y="4169664"/>
            <a:ext cx="445312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50" b="0">
                <a:solidFill>
                  <a:srgbClr val="7B2525"/>
                </a:solidFill>
                <a:latin typeface="Avenir Next"/>
                <a:ea typeface="PingFang SC"/>
              </a:rPr>
              <a:t>减少错误，提高准确性</a:t>
            </a:r>
            <a:endParaRPr lang="zh-CN" sz="1150"/>
          </a:p>
        </p:txBody>
      </p:sp>
      <p:sp>
        <p:nvSpPr>
          <p:cNvPr id="23" name="Shape 23"/>
          <p:cNvSpPr/>
          <p:nvPr/>
        </p:nvSpPr>
        <p:spPr>
          <a:xfrm>
            <a:off x="6172200" y="3657600"/>
            <a:ext cx="480060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6172200" y="3657600"/>
            <a:ext cx="73152" cy="1417320"/>
          </a:xfrm>
          <a:prstGeom prst="rect">
            <a:avLst/>
          </a:prstGeom>
          <a:solidFill>
            <a:srgbClr val="B8272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ext 25"/>
          <p:cNvSpPr txBox="1"/>
          <p:nvPr/>
        </p:nvSpPr>
        <p:spPr>
          <a:xfrm>
            <a:off x="6373368" y="3785616"/>
            <a:ext cx="448056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学习报告</a:t>
            </a:r>
            <a:endParaRPr lang="zh-CN" sz="1180"/>
          </a:p>
        </p:txBody>
      </p:sp>
      <p:sp>
        <p:nvSpPr>
          <p:cNvPr id="26" name="Text 26"/>
          <p:cNvSpPr txBox="1"/>
          <p:nvPr/>
        </p:nvSpPr>
        <p:spPr>
          <a:xfrm>
            <a:off x="6373368" y="4169664"/>
            <a:ext cx="4453128" cy="8321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50" b="0">
                <a:solidFill>
                  <a:srgbClr val="7B2525"/>
                </a:solidFill>
                <a:latin typeface="Avenir Next"/>
                <a:ea typeface="PingFang SC"/>
              </a:rPr>
              <a:t>玩完后总结学到的知识</a:t>
            </a:r>
            <a:endParaRPr lang="zh-CN" sz="1150"/>
          </a:p>
        </p:txBody>
      </p:sp>
      <p:sp>
        <p:nvSpPr>
          <p:cNvPr id="27" name="Text 27"/>
          <p:cNvSpPr txBox="1"/>
          <p:nvPr/>
        </p:nvSpPr>
        <p:spPr>
          <a:xfrm>
            <a:off x="1051560" y="5669280"/>
            <a:ext cx="97840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150" b="1">
                <a:solidFill>
                  <a:srgbClr val="9F1E1E"/>
                </a:solidFill>
                <a:latin typeface="Avenir Next"/>
                <a:ea typeface="PingFang SC"/>
              </a:rPr>
              <a:t>未来目标：让它更像一个真正的学习工具，而不只是一个小游戏。</a:t>
            </a:r>
            <a:endParaRPr lang="zh-CN" sz="1150"/>
          </a:p>
        </p:txBody>
      </p:sp>
      <p:sp>
        <p:nvSpPr>
          <p:cNvPr id="28" name="Text 28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10/12</a:t>
            </a:r>
            <a:endParaRPr lang="zh-CN" sz="7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594360" y="393192"/>
            <a:ext cx="1143000" cy="310896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 wrap="square" lIns="0" tIns="0" rIns="0" bIns="0" anchor="ctr"/>
          <a:lstStyle/>
          <a:p>
            <a:pPr algn="c" marL="0" indent="0">
              <a:buNone/>
            </a:pPr>
            <a:r>
              <a:rPr lang="zh-CN" sz="950" b="1">
                <a:solidFill>
                  <a:srgbClr val="FFF8F5"/>
                </a:solidFill>
                <a:latin typeface="Avenir Next"/>
                <a:ea typeface="PingFang SC"/>
              </a:rPr>
              <a:t>Emma</a:t>
            </a:r>
            <a:endParaRPr lang="zh-CN" sz="950"/>
          </a:p>
        </p:txBody>
      </p:sp>
      <p:sp>
        <p:nvSpPr>
          <p:cNvPr id="9" name="Text 9"/>
          <p:cNvSpPr txBox="1"/>
          <p:nvPr/>
        </p:nvSpPr>
        <p:spPr>
          <a:xfrm>
            <a:off x="1901952" y="438912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760" b="1">
                <a:solidFill>
                  <a:srgbClr val="9F1E1E"/>
                </a:solidFill>
                <a:latin typeface="Avenir Next"/>
                <a:ea typeface="PingFang SC"/>
              </a:rPr>
              <a:t>从做题，到做作品</a:t>
            </a:r>
            <a:endParaRPr lang="zh-CN" sz="760"/>
          </a:p>
        </p:txBody>
      </p:sp>
      <p:sp>
        <p:nvSpPr>
          <p:cNvPr id="10" name="Text 10"/>
          <p:cNvSpPr txBox="1"/>
          <p:nvPr/>
        </p:nvSpPr>
        <p:spPr>
          <a:xfrm>
            <a:off x="594360" y="850392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这个项目对我的意义</a:t>
            </a:r>
            <a:endParaRPr lang="zh-CN" sz="2200"/>
          </a:p>
        </p:txBody>
      </p:sp>
      <p:sp>
        <p:nvSpPr>
          <p:cNvPr id="11" name="Text 11"/>
          <p:cNvSpPr txBox="1"/>
          <p:nvPr/>
        </p:nvSpPr>
        <p:spPr>
          <a:xfrm>
            <a:off x="868680" y="150876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从做题，</a:t>
            </a:r>
            <a:endParaRPr lang="zh-CN" sz="2200"/>
          </a:p>
          <a:p>
            <a:pPr algn="l" marL="0" indent="0">
              <a:buNone/>
            </a:pPr>
            <a:r>
              <a:rPr lang="zh-CN" sz="2200" b="1">
                <a:solidFill>
                  <a:srgbClr val="9F1E1E"/>
                </a:solidFill>
                <a:latin typeface="Avenir Next"/>
                <a:ea typeface="PingFang SC"/>
              </a:rPr>
              <a:t>到做一个真实作品</a:t>
            </a:r>
            <a:endParaRPr lang="zh-CN" sz="2200"/>
          </a:p>
        </p:txBody>
      </p:sp>
      <p:sp>
        <p:nvSpPr>
          <p:cNvPr id="12" name="Shape 12"/>
          <p:cNvSpPr/>
          <p:nvPr/>
        </p:nvSpPr>
        <p:spPr>
          <a:xfrm>
            <a:off x="868680" y="278892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3" name="Shape 13"/>
          <p:cNvSpPr/>
          <p:nvPr/>
        </p:nvSpPr>
        <p:spPr>
          <a:xfrm>
            <a:off x="868680" y="2788920"/>
            <a:ext cx="73152" cy="1920240"/>
          </a:xfrm>
          <a:prstGeom prst="rect">
            <a:avLst/>
          </a:prstGeom>
          <a:solidFill>
            <a:srgbClr val="D9392E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4" name="Text 14"/>
          <p:cNvSpPr txBox="1"/>
          <p:nvPr/>
        </p:nvSpPr>
        <p:spPr>
          <a:xfrm>
            <a:off x="1069848" y="291693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编程能力</a:t>
            </a:r>
            <a:endParaRPr lang="zh-CN" sz="1180"/>
          </a:p>
        </p:txBody>
      </p:sp>
      <p:sp>
        <p:nvSpPr>
          <p:cNvPr id="15" name="Text 15"/>
          <p:cNvSpPr txBox="1"/>
          <p:nvPr/>
        </p:nvSpPr>
        <p:spPr>
          <a:xfrm>
            <a:off x="1069848" y="330098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不只是写代码，还要设计规则、处理问题。</a:t>
            </a:r>
            <a:endParaRPr lang="zh-CN" sz="1050"/>
          </a:p>
        </p:txBody>
      </p:sp>
      <p:sp>
        <p:nvSpPr>
          <p:cNvPr id="16" name="Shape 16"/>
          <p:cNvSpPr/>
          <p:nvPr/>
        </p:nvSpPr>
        <p:spPr>
          <a:xfrm>
            <a:off x="4434840" y="278892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Shape 17"/>
          <p:cNvSpPr/>
          <p:nvPr/>
        </p:nvSpPr>
        <p:spPr>
          <a:xfrm>
            <a:off x="4434840" y="2788920"/>
            <a:ext cx="73152" cy="1920240"/>
          </a:xfrm>
          <a:prstGeom prst="rect">
            <a:avLst/>
          </a:prstGeom>
          <a:solidFill>
            <a:srgbClr val="B98E4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8" name="Text 18"/>
          <p:cNvSpPr txBox="1"/>
          <p:nvPr/>
        </p:nvSpPr>
        <p:spPr>
          <a:xfrm>
            <a:off x="4636008" y="291693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AI 合作能力</a:t>
            </a:r>
            <a:endParaRPr lang="zh-CN" sz="1180"/>
          </a:p>
        </p:txBody>
      </p:sp>
      <p:sp>
        <p:nvSpPr>
          <p:cNvPr id="19" name="Text 19"/>
          <p:cNvSpPr txBox="1"/>
          <p:nvPr/>
        </p:nvSpPr>
        <p:spPr>
          <a:xfrm>
            <a:off x="4636008" y="330098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学会让 AI 帮我加速，也学会检查它。</a:t>
            </a:r>
            <a:endParaRPr lang="zh-CN" sz="1050"/>
          </a:p>
        </p:txBody>
      </p:sp>
      <p:sp>
        <p:nvSpPr>
          <p:cNvPr id="20" name="Shape 20"/>
          <p:cNvSpPr/>
          <p:nvPr/>
        </p:nvSpPr>
        <p:spPr>
          <a:xfrm>
            <a:off x="8001000" y="2788920"/>
            <a:ext cx="3108960" cy="192024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8001000" y="2788920"/>
            <a:ext cx="73152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ext 22"/>
          <p:cNvSpPr txBox="1"/>
          <p:nvPr/>
        </p:nvSpPr>
        <p:spPr>
          <a:xfrm>
            <a:off x="8202168" y="2916936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180" b="1">
                <a:solidFill>
                  <a:srgbClr val="9F1E1E"/>
                </a:solidFill>
                <a:latin typeface="Avenir Next"/>
                <a:ea typeface="PingFang SC"/>
              </a:rPr>
              <a:t>表达能力</a:t>
            </a:r>
            <a:endParaRPr lang="zh-CN" sz="1180"/>
          </a:p>
        </p:txBody>
      </p:sp>
      <p:sp>
        <p:nvSpPr>
          <p:cNvPr id="23" name="Text 23"/>
          <p:cNvSpPr txBox="1"/>
          <p:nvPr/>
        </p:nvSpPr>
        <p:spPr>
          <a:xfrm>
            <a:off x="8202168" y="3300984"/>
            <a:ext cx="2761488" cy="1335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 marL="0" indent="0">
              <a:buNone/>
            </a:pPr>
            <a:r>
              <a:rPr lang="zh-CN" sz="1050" b="0">
                <a:solidFill>
                  <a:srgbClr val="7B2525"/>
                </a:solidFill>
                <a:latin typeface="Avenir Next"/>
                <a:ea typeface="PingFang SC"/>
              </a:rPr>
              <a:t>把复杂内容讲给不同的人听懂。</a:t>
            </a:r>
            <a:endParaRPr lang="zh-CN" sz="1050"/>
          </a:p>
        </p:txBody>
      </p:sp>
      <p:sp>
        <p:nvSpPr>
          <p:cNvPr id="24" name="Text 24"/>
          <p:cNvSpPr txBox="1"/>
          <p:nvPr/>
        </p:nvSpPr>
        <p:spPr>
          <a:xfrm>
            <a:off x="6355080" y="1417320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500" b="1">
                <a:solidFill>
                  <a:srgbClr val="985151"/>
                </a:solidFill>
                <a:latin typeface="Avenir Next"/>
                <a:ea typeface="PingFang SC"/>
              </a:rPr>
              <a:t>编程让我把一个想法</a:t>
            </a:r>
            <a:endParaRPr lang="zh-CN" sz="1500"/>
          </a:p>
          <a:p>
            <a:pPr algn="c" marL="0" indent="0">
              <a:buNone/>
            </a:pPr>
            <a:r>
              <a:rPr lang="zh-CN" sz="1500" b="1">
                <a:solidFill>
                  <a:srgbClr val="985151"/>
                </a:solidFill>
                <a:latin typeface="Avenir Next"/>
                <a:ea typeface="PingFang SC"/>
              </a:rPr>
              <a:t>变成能展示的作品。</a:t>
            </a:r>
            <a:endParaRPr lang="zh-CN" sz="1500"/>
          </a:p>
        </p:txBody>
      </p:sp>
      <p:sp>
        <p:nvSpPr>
          <p:cNvPr id="25" name="Text 25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11/12</a:t>
            </a:r>
            <a:endParaRPr lang="zh-CN" sz="7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F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Shape 3"/>
          <p:cNvSpPr/>
          <p:nvPr/>
        </p:nvSpPr>
        <p:spPr>
          <a:xfrm>
            <a:off x="182880" y="182880"/>
            <a:ext cx="11795760" cy="6492240"/>
          </a:xfrm>
          <a:prstGeom prst="roundRect">
            <a:avLst/>
          </a:prstGeom>
          <a:noFill/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" name="Shape 4"/>
          <p:cNvSpPr/>
          <p:nvPr/>
        </p:nvSpPr>
        <p:spPr>
          <a:xfrm>
            <a:off x="457200" y="411480"/>
            <a:ext cx="1188720" cy="1188720"/>
          </a:xfrm>
          <a:prstGeom prst="ellipse">
            <a:avLst/>
          </a:prstGeom>
          <a:solidFill>
            <a:srgbClr val="D9392E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Shape 5"/>
          <p:cNvSpPr/>
          <p:nvPr/>
        </p:nvSpPr>
        <p:spPr>
          <a:xfrm>
            <a:off x="10058400" y="914400"/>
            <a:ext cx="914400" cy="914400"/>
          </a:xfrm>
          <a:prstGeom prst="ellipse">
            <a:avLst/>
          </a:prstGeom>
          <a:solidFill>
            <a:srgbClr val="D9392E">
              <a:alpha val="13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" name="Shape 6"/>
          <p:cNvSpPr/>
          <p:nvPr/>
        </p:nvSpPr>
        <p:spPr>
          <a:xfrm>
            <a:off x="8915400" y="5394960"/>
            <a:ext cx="960120" cy="960120"/>
          </a:xfrm>
          <a:prstGeom prst="ellipse">
            <a:avLst/>
          </a:prstGeom>
          <a:solidFill>
            <a:srgbClr val="D9392E">
              <a:alpha val="11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" name="Shape 7"/>
          <p:cNvSpPr/>
          <p:nvPr/>
        </p:nvSpPr>
        <p:spPr>
          <a:xfrm>
            <a:off x="1051560" y="5532120"/>
            <a:ext cx="594360" cy="594360"/>
          </a:xfrm>
          <a:prstGeom prst="ellipse">
            <a:avLst/>
          </a:prstGeom>
          <a:solidFill>
            <a:srgbClr val="D9392E">
              <a:alpha val="9000"/>
            </a:srgbClr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868680" y="1143000"/>
            <a:ext cx="9875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3300" b="1">
                <a:solidFill>
                  <a:srgbClr val="9F1E1E"/>
                </a:solidFill>
                <a:latin typeface="Avenir Next"/>
                <a:ea typeface="PingFang SC"/>
              </a:rPr>
              <a:t>谢谢大家</a:t>
            </a:r>
            <a:endParaRPr lang="zh-CN" sz="3300"/>
          </a:p>
        </p:txBody>
      </p:sp>
      <p:sp>
        <p:nvSpPr>
          <p:cNvPr id="9" name="Text 9"/>
          <p:cNvSpPr txBox="1"/>
          <p:nvPr/>
        </p:nvSpPr>
        <p:spPr>
          <a:xfrm>
            <a:off x="1371600" y="2331720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650" b="1">
                <a:solidFill>
                  <a:srgbClr val="D9392E"/>
                </a:solidFill>
                <a:latin typeface="Avenir Next"/>
                <a:ea typeface="PingFang SC"/>
              </a:rPr>
              <a:t>欢迎体验和提问</a:t>
            </a:r>
            <a:endParaRPr lang="zh-CN" sz="1650"/>
          </a:p>
        </p:txBody>
      </p:sp>
      <p:sp>
        <p:nvSpPr>
          <p:cNvPr id="10" name="Shape 10"/>
          <p:cNvSpPr/>
          <p:nvPr/>
        </p:nvSpPr>
        <p:spPr>
          <a:xfrm>
            <a:off x="2011680" y="3246120"/>
            <a:ext cx="8138160" cy="141732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EFC1B2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ext 11"/>
          <p:cNvSpPr txBox="1"/>
          <p:nvPr/>
        </p:nvSpPr>
        <p:spPr>
          <a:xfrm>
            <a:off x="2377440" y="3566160"/>
            <a:ext cx="74066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550" b="1">
                <a:solidFill>
                  <a:srgbClr val="7B2525"/>
                </a:solidFill>
                <a:latin typeface="Avenir Next"/>
                <a:ea typeface="PingFang SC"/>
              </a:rPr>
              <a:t>好奇心是项目的开始，</a:t>
            </a:r>
            <a:endParaRPr lang="zh-CN" sz="1550"/>
          </a:p>
          <a:p>
            <a:pPr algn="c" marL="0" indent="0">
              <a:buNone/>
            </a:pPr>
            <a:r>
              <a:rPr lang="zh-CN" sz="1550" b="1">
                <a:solidFill>
                  <a:srgbClr val="7B2525"/>
                </a:solidFill>
                <a:latin typeface="Avenir Next"/>
                <a:ea typeface="PingFang SC"/>
              </a:rPr>
              <a:t>编程和 AI 是把想法做出来的工具。</a:t>
            </a:r>
            <a:endParaRPr lang="zh-CN" sz="1550"/>
          </a:p>
        </p:txBody>
      </p:sp>
      <p:sp>
        <p:nvSpPr>
          <p:cNvPr id="12" name="Text 12"/>
          <p:cNvSpPr txBox="1"/>
          <p:nvPr/>
        </p:nvSpPr>
        <p:spPr>
          <a:xfrm>
            <a:off x="3977639" y="51663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" marL="0" indent="0">
              <a:buNone/>
            </a:pPr>
            <a:r>
              <a:rPr lang="zh-CN" sz="1500" b="1">
                <a:solidFill>
                  <a:srgbClr val="9F1E1E"/>
                </a:solidFill>
                <a:latin typeface="Avenir Next"/>
                <a:ea typeface="PingFang SC"/>
              </a:rPr>
              <a:t>Q &amp; A</a:t>
            </a:r>
            <a:endParaRPr lang="zh-CN" sz="1500"/>
          </a:p>
        </p:txBody>
      </p:sp>
      <p:sp>
        <p:nvSpPr>
          <p:cNvPr id="13" name="Text 13"/>
          <p:cNvSpPr txBox="1"/>
          <p:nvPr/>
        </p:nvSpPr>
        <p:spPr>
          <a:xfrm>
            <a:off x="9966960" y="647395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 marL="0" indent="0">
              <a:buNone/>
            </a:pPr>
            <a:r>
              <a:rPr lang="zh-CN" sz="720" b="0">
                <a:solidFill>
                  <a:srgbClr val="985151"/>
                </a:solidFill>
                <a:latin typeface="Avenir Next"/>
                <a:ea typeface="PingFang SC"/>
              </a:rPr>
              <a:t>12/12</a:t>
            </a:r>
            <a:endParaRPr lang="zh-CN" sz="7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Mushroom Family Theme">
  <a:themeElements>
    <a:clrScheme name="Warm Mushroom">
      <a:dk1>
        <a:srgbClr val="6B1212"/>
      </a:dk1>
      <a:lt1>
        <a:srgbClr val="FFFDFC"/>
      </a:lt1>
      <a:dk2>
        <a:srgbClr val="7B2525"/>
      </a:dk2>
      <a:lt2>
        <a:srgbClr val="FFF4ED"/>
      </a:lt2>
      <a:accent1>
        <a:srgbClr val="D9392E"/>
      </a:accent1>
      <a:accent2>
        <a:srgbClr val="B82720"/>
      </a:accent2>
      <a:accent3>
        <a:srgbClr val="B98E4A"/>
      </a:accent3>
      <a:accent4>
        <a:srgbClr val="4CAF50"/>
      </a:accent4>
      <a:accent5>
        <a:srgbClr val="F2B8A7"/>
      </a:accent5>
      <a:accent6>
        <a:srgbClr val="985151"/>
      </a:accent6>
      <a:hlink>
        <a:srgbClr val="D9392E"/>
      </a:hlink>
      <a:folHlink>
        <a:srgbClr val="9F1E1E"/>
      </a:folHlink>
    </a:clrScheme>
    <a:fontScheme name="Warm Fonts">
      <a:majorFont>
        <a:latin typeface="Avenir Next"/>
        <a:ea typeface="PingFang SC"/>
      </a:majorFont>
      <a:minorFont>
        <a:latin typeface="Avenir Next"/>
        <a:ea typeface="PingFang SC"/>
      </a:minorFont>
    </a:fontScheme>
    <a:fmtScheme name="Warm Format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Cursor</Application>
  <PresentationFormat>Widescreen</PresentationFormat>
  <Slides>12</Slides>
  <Company>Emma Project Share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Fungi Simulator 亲子活动项目分享</dc:title>
  <dc:creator>Cursor Agent</dc:creator>
  <cp:lastModifiedBy>Cursor Agent</cp:lastModifiedBy>
  <dcterms:created xsi:type="dcterms:W3CDTF">2026-05-14T13:00:00Z</dcterms:created>
  <dcterms:modified xsi:type="dcterms:W3CDTF">2026-05-14T13:00:00Z</dcterms:modified>
</cp:coreProperties>
</file>