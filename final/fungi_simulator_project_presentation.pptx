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777240" y="685800"/>
            <a:ext cx="1417320" cy="41148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1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150"/>
          </a:p>
        </p:txBody>
      </p:sp>
      <p:sp>
        <p:nvSpPr>
          <p:cNvPr id="9" name="Text 9"/>
          <p:cNvSpPr txBox="1"/>
          <p:nvPr/>
        </p:nvSpPr>
        <p:spPr>
          <a:xfrm>
            <a:off x="2395728" y="78638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777240" y="1554480"/>
            <a:ext cx="9784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950" b="1">
                <a:solidFill>
                  <a:srgbClr val="9F1E1E"/>
                </a:solidFill>
                <a:latin typeface="Avenir Next"/>
                <a:ea typeface="PingFang SC"/>
              </a:rPr>
              <a:t>Fungi Simulator</a:t>
            </a:r>
            <a:endParaRPr lang="zh-CN" sz="2950"/>
          </a:p>
          <a:p>
            <a:pPr algn="l" marL="0" indent="0">
              <a:buNone/>
            </a:pPr>
            <a:r>
              <a:rPr lang="zh-CN" sz="2950" b="1">
                <a:solidFill>
                  <a:srgbClr val="9F1E1E"/>
                </a:solidFill>
                <a:latin typeface="Avenir Next"/>
                <a:ea typeface="PingFang SC"/>
              </a:rPr>
              <a:t>真菌猎手：智能科普对抗系统</a:t>
            </a:r>
            <a:endParaRPr lang="zh-CN" sz="2950"/>
          </a:p>
        </p:txBody>
      </p:sp>
      <p:sp>
        <p:nvSpPr>
          <p:cNvPr id="11" name="Shape 11"/>
          <p:cNvSpPr/>
          <p:nvPr/>
        </p:nvSpPr>
        <p:spPr>
          <a:xfrm>
            <a:off x="786384" y="2907792"/>
            <a:ext cx="1097280" cy="64008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786384" y="312724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0">
                <a:solidFill>
                  <a:srgbClr val="985151"/>
                </a:solidFill>
                <a:latin typeface="Avenir Next"/>
                <a:ea typeface="PingFang SC"/>
              </a:rPr>
              <a:t>基于游戏机制、GLM-5 与 RAG 的生物学互动学习项目</a:t>
            </a:r>
            <a:endParaRPr lang="zh-CN" sz="1300"/>
          </a:p>
        </p:txBody>
      </p:sp>
      <p:sp>
        <p:nvSpPr>
          <p:cNvPr id="13" name="Shape 13"/>
          <p:cNvSpPr/>
          <p:nvPr/>
        </p:nvSpPr>
        <p:spPr>
          <a:xfrm>
            <a:off x="777240" y="3977639"/>
            <a:ext cx="3154680" cy="960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Shape 14"/>
          <p:cNvSpPr/>
          <p:nvPr/>
        </p:nvSpPr>
        <p:spPr>
          <a:xfrm>
            <a:off x="777240" y="3977639"/>
            <a:ext cx="82296" cy="96012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ext 15"/>
          <p:cNvSpPr txBox="1"/>
          <p:nvPr/>
        </p:nvSpPr>
        <p:spPr>
          <a:xfrm>
            <a:off x="987552" y="4114799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Game-based Learning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87552" y="4507991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把寄生真菌知识转化为可玩策略过程</a:t>
            </a:r>
            <a:endParaRPr lang="zh-CN" sz="1030"/>
          </a:p>
        </p:txBody>
      </p:sp>
      <p:sp>
        <p:nvSpPr>
          <p:cNvPr id="17" name="Shape 17"/>
          <p:cNvSpPr/>
          <p:nvPr/>
        </p:nvSpPr>
        <p:spPr>
          <a:xfrm>
            <a:off x="4251960" y="3977639"/>
            <a:ext cx="3154680" cy="960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8" name="Shape 18"/>
          <p:cNvSpPr/>
          <p:nvPr/>
        </p:nvSpPr>
        <p:spPr>
          <a:xfrm>
            <a:off x="4251960" y="3977639"/>
            <a:ext cx="82296" cy="96012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Text 19"/>
          <p:cNvSpPr txBox="1"/>
          <p:nvPr/>
        </p:nvSpPr>
        <p:spPr>
          <a:xfrm>
            <a:off x="4462272" y="4114799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AI Strategy</a:t>
            </a:r>
            <a:endParaRPr lang="zh-CN" sz="1300"/>
          </a:p>
        </p:txBody>
      </p:sp>
      <p:sp>
        <p:nvSpPr>
          <p:cNvPr id="20" name="Text 20"/>
          <p:cNvSpPr txBox="1"/>
          <p:nvPr/>
        </p:nvSpPr>
        <p:spPr>
          <a:xfrm>
            <a:off x="4462272" y="4507991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用 GLM-5 生成孢子部署与局面分析</a:t>
            </a:r>
            <a:endParaRPr lang="zh-CN" sz="1030"/>
          </a:p>
        </p:txBody>
      </p:sp>
      <p:sp>
        <p:nvSpPr>
          <p:cNvPr id="21" name="Shape 21"/>
          <p:cNvSpPr/>
          <p:nvPr/>
        </p:nvSpPr>
        <p:spPr>
          <a:xfrm>
            <a:off x="7726679" y="3977639"/>
            <a:ext cx="3154680" cy="960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2" name="Shape 22"/>
          <p:cNvSpPr/>
          <p:nvPr/>
        </p:nvSpPr>
        <p:spPr>
          <a:xfrm>
            <a:off x="7726679" y="3977639"/>
            <a:ext cx="82296" cy="96012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" name="Text 23"/>
          <p:cNvSpPr txBox="1"/>
          <p:nvPr/>
        </p:nvSpPr>
        <p:spPr>
          <a:xfrm>
            <a:off x="7936991" y="4114799"/>
            <a:ext cx="28072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RAG Evidence</a:t>
            </a:r>
            <a:endParaRPr lang="zh-CN" sz="1300"/>
          </a:p>
        </p:txBody>
      </p:sp>
      <p:sp>
        <p:nvSpPr>
          <p:cNvPr id="24" name="Text 24"/>
          <p:cNvSpPr txBox="1"/>
          <p:nvPr/>
        </p:nvSpPr>
        <p:spPr>
          <a:xfrm>
            <a:off x="7936991" y="4507991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用本地知识库支撑课堂式解释</a:t>
            </a:r>
            <a:endParaRPr lang="zh-CN" sz="1030"/>
          </a:p>
        </p:txBody>
      </p:sp>
      <p:sp>
        <p:nvSpPr>
          <p:cNvPr id="25" name="Text 25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讲述提示：开场先定位：这是科学教育项目，不只是小游戏。</a:t>
            </a:r>
            <a:endParaRPr lang="zh-CN" sz="760"/>
          </a:p>
        </p:txBody>
      </p:sp>
      <p:sp>
        <p:nvSpPr>
          <p:cNvPr id="26" name="Text 26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1/10</a:t>
            </a:r>
            <a:endParaRPr lang="zh-CN" sz="7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项目背景与问题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从抽象生物学概念到可交互课堂体验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49808" y="1828800"/>
            <a:ext cx="3246120" cy="3474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Shape 14"/>
          <p:cNvSpPr/>
          <p:nvPr/>
        </p:nvSpPr>
        <p:spPr>
          <a:xfrm>
            <a:off x="749808" y="1828800"/>
            <a:ext cx="82296" cy="347472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ext 15"/>
          <p:cNvSpPr txBox="1"/>
          <p:nvPr/>
        </p:nvSpPr>
        <p:spPr>
          <a:xfrm>
            <a:off x="960120" y="1965960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知识主题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60120" y="2359152"/>
            <a:ext cx="2862072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寄生真菌感染宿主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death grip 行为固定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孢子传播与生态位选择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宿主防御与物种差异</a:t>
            </a:r>
            <a:endParaRPr lang="zh-CN" sz="1030"/>
          </a:p>
        </p:txBody>
      </p:sp>
      <p:sp>
        <p:nvSpPr>
          <p:cNvPr id="17" name="Shape 17"/>
          <p:cNvSpPr/>
          <p:nvPr/>
        </p:nvSpPr>
        <p:spPr>
          <a:xfrm>
            <a:off x="4407408" y="1828800"/>
            <a:ext cx="3246120" cy="3474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8" name="Shape 18"/>
          <p:cNvSpPr/>
          <p:nvPr/>
        </p:nvSpPr>
        <p:spPr>
          <a:xfrm>
            <a:off x="4407408" y="1828800"/>
            <a:ext cx="82296" cy="347472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Text 19"/>
          <p:cNvSpPr txBox="1"/>
          <p:nvPr/>
        </p:nvSpPr>
        <p:spPr>
          <a:xfrm>
            <a:off x="4617720" y="1965960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教学痛点</a:t>
            </a:r>
            <a:endParaRPr lang="zh-CN" sz="1300"/>
          </a:p>
        </p:txBody>
      </p:sp>
      <p:sp>
        <p:nvSpPr>
          <p:cNvPr id="20" name="Text 20"/>
          <p:cNvSpPr txBox="1"/>
          <p:nvPr/>
        </p:nvSpPr>
        <p:spPr>
          <a:xfrm>
            <a:off x="4617720" y="2359152"/>
            <a:ext cx="2862072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文字讲解难以表现动态过程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行为操控容易被误解成“脑控”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生命周期阶段缺少直观反馈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学生缺少主动提问入口</a:t>
            </a:r>
            <a:endParaRPr lang="zh-CN" sz="1030"/>
          </a:p>
        </p:txBody>
      </p:sp>
      <p:sp>
        <p:nvSpPr>
          <p:cNvPr id="21" name="Shape 21"/>
          <p:cNvSpPr/>
          <p:nvPr/>
        </p:nvSpPr>
        <p:spPr>
          <a:xfrm>
            <a:off x="8065008" y="1828800"/>
            <a:ext cx="3246120" cy="3474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2" name="Shape 22"/>
          <p:cNvSpPr/>
          <p:nvPr/>
        </p:nvSpPr>
        <p:spPr>
          <a:xfrm>
            <a:off x="8065008" y="1828800"/>
            <a:ext cx="82296" cy="347472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" name="Text 23"/>
          <p:cNvSpPr txBox="1"/>
          <p:nvPr/>
        </p:nvSpPr>
        <p:spPr>
          <a:xfrm>
            <a:off x="8275320" y="1965960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项目目标</a:t>
            </a:r>
            <a:endParaRPr lang="zh-CN" sz="1300"/>
          </a:p>
        </p:txBody>
      </p:sp>
      <p:sp>
        <p:nvSpPr>
          <p:cNvPr id="24" name="Text 24"/>
          <p:cNvSpPr txBox="1"/>
          <p:nvPr/>
        </p:nvSpPr>
        <p:spPr>
          <a:xfrm>
            <a:off x="8275320" y="2359152"/>
            <a:ext cx="2862072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让学生在策略中理解机制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把感染过程拆成可观察阶段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用 RAG 保持解释有证据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用 AI 生成提升互动性</a:t>
            </a:r>
            <a:endParaRPr lang="zh-CN" sz="1030"/>
          </a:p>
        </p:txBody>
      </p:sp>
      <p:sp>
        <p:nvSpPr>
          <p:cNvPr id="25" name="Text 25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讲述提示：说明为什么要做：把难讲的生命过程变成可操作系统。</a:t>
            </a:r>
            <a:endParaRPr lang="zh-CN" sz="760"/>
          </a:p>
        </p:txBody>
      </p:sp>
      <p:sp>
        <p:nvSpPr>
          <p:cNvPr id="26" name="Text 26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2/10</a:t>
            </a:r>
            <a:endParaRPr lang="zh-CN" sz="76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项目概览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一个可玩、可问、可解释的 Web 模拟器</a:t>
            </a:r>
            <a:endParaRPr lang="zh-CN" sz="900"/>
          </a:p>
        </p:txBody>
      </p:sp>
      <p:sp>
        <p:nvSpPr>
          <p:cNvPr id="13" name="Text 13"/>
          <p:cNvSpPr txBox="1"/>
          <p:nvPr/>
        </p:nvSpPr>
        <p:spPr>
          <a:xfrm>
            <a:off x="777240" y="1783080"/>
            <a:ext cx="102412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270" b="1">
                <a:solidFill>
                  <a:srgbClr val="9F1E1E"/>
                </a:solidFill>
                <a:latin typeface="Avenir Next"/>
                <a:ea typeface="PingFang SC"/>
              </a:rPr>
              <a:t>一句话定位：把真菌感染知识转化为策略对抗、AI 生成和证据问答的互动学习系统。</a:t>
            </a:r>
            <a:endParaRPr lang="zh-CN" sz="1270"/>
          </a:p>
        </p:txBody>
      </p:sp>
      <p:sp>
        <p:nvSpPr>
          <p:cNvPr id="14" name="Shape 14"/>
          <p:cNvSpPr/>
          <p:nvPr/>
        </p:nvSpPr>
        <p:spPr>
          <a:xfrm>
            <a:off x="777240" y="2514600"/>
            <a:ext cx="2423160" cy="2011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777240" y="2514600"/>
            <a:ext cx="82296" cy="201168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Text 16"/>
          <p:cNvSpPr txBox="1"/>
          <p:nvPr/>
        </p:nvSpPr>
        <p:spPr>
          <a:xfrm>
            <a:off x="987552" y="2651760"/>
            <a:ext cx="207568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用户配置</a:t>
            </a:r>
            <a:endParaRPr lang="zh-CN" sz="1300"/>
          </a:p>
        </p:txBody>
      </p:sp>
      <p:sp>
        <p:nvSpPr>
          <p:cNvPr id="17" name="Text 17"/>
          <p:cNvSpPr txBox="1"/>
          <p:nvPr/>
        </p:nvSpPr>
        <p:spPr>
          <a:xfrm>
            <a:off x="987552" y="3044952"/>
            <a:ext cx="2039112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角色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宿主类型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环境类型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真菌类型</a:t>
            </a:r>
            <a:endParaRPr lang="zh-CN" sz="1030"/>
          </a:p>
        </p:txBody>
      </p:sp>
      <p:cxnSp>
        <p:nvCxnSpPr>
          <p:cNvPr id="18" name="Arrow 18"/>
          <p:cNvCxnSpPr/>
          <p:nvPr/>
        </p:nvCxnSpPr>
        <p:spPr>
          <a:xfrm>
            <a:off x="3310128" y="3493008"/>
            <a:ext cx="41148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19" name="Shape 19"/>
          <p:cNvSpPr/>
          <p:nvPr/>
        </p:nvSpPr>
        <p:spPr>
          <a:xfrm>
            <a:off x="3794760" y="2240280"/>
            <a:ext cx="2606040" cy="2560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0" name="Shape 20"/>
          <p:cNvSpPr/>
          <p:nvPr/>
        </p:nvSpPr>
        <p:spPr>
          <a:xfrm>
            <a:off x="3794760" y="2240280"/>
            <a:ext cx="82296" cy="256032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" name="Text 21"/>
          <p:cNvSpPr txBox="1"/>
          <p:nvPr/>
        </p:nvSpPr>
        <p:spPr>
          <a:xfrm>
            <a:off x="4005072" y="2377440"/>
            <a:ext cx="22585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核心交互</a:t>
            </a:r>
            <a:endParaRPr lang="zh-CN" sz="1300"/>
          </a:p>
        </p:txBody>
      </p:sp>
      <p:sp>
        <p:nvSpPr>
          <p:cNvPr id="22" name="Text 22"/>
          <p:cNvSpPr txBox="1"/>
          <p:nvPr/>
        </p:nvSpPr>
        <p:spPr>
          <a:xfrm>
            <a:off x="4005072" y="2770632"/>
            <a:ext cx="2221992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三层地图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孢子部署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宿主移动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感染周期</a:t>
            </a:r>
            <a:endParaRPr lang="zh-CN" sz="1030"/>
          </a:p>
        </p:txBody>
      </p:sp>
      <p:cxnSp>
        <p:nvCxnSpPr>
          <p:cNvPr id="23" name="Arrow 23"/>
          <p:cNvCxnSpPr/>
          <p:nvPr/>
        </p:nvCxnSpPr>
        <p:spPr>
          <a:xfrm>
            <a:off x="6510528" y="3493008"/>
            <a:ext cx="41148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4" name="Shape 24"/>
          <p:cNvSpPr/>
          <p:nvPr/>
        </p:nvSpPr>
        <p:spPr>
          <a:xfrm>
            <a:off x="6995160" y="2240280"/>
            <a:ext cx="4069080" cy="2560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5" name="Shape 25"/>
          <p:cNvSpPr/>
          <p:nvPr/>
        </p:nvSpPr>
        <p:spPr>
          <a:xfrm>
            <a:off x="6995160" y="2240280"/>
            <a:ext cx="82296" cy="256032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6" name="Text 26"/>
          <p:cNvSpPr txBox="1"/>
          <p:nvPr/>
        </p:nvSpPr>
        <p:spPr>
          <a:xfrm>
            <a:off x="7205472" y="2377440"/>
            <a:ext cx="37216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智能增强</a:t>
            </a:r>
            <a:endParaRPr lang="zh-CN" sz="1300"/>
          </a:p>
        </p:txBody>
      </p:sp>
      <p:sp>
        <p:nvSpPr>
          <p:cNvPr id="27" name="Text 27"/>
          <p:cNvSpPr txBox="1"/>
          <p:nvPr/>
        </p:nvSpPr>
        <p:spPr>
          <a:xfrm>
            <a:off x="7205472" y="2770632"/>
            <a:ext cx="3685032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AI 孢子策略生成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RAG 科普问答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阶段知识补充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AI 局面解说与胜负预测</a:t>
            </a:r>
            <a:endParaRPr lang="zh-CN" sz="1030"/>
          </a:p>
        </p:txBody>
      </p:sp>
      <p:sp>
        <p:nvSpPr>
          <p:cNvPr id="28" name="Text 28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讲述提示：强调 AI 是嵌入游戏流程，而不是孤立聊天框。</a:t>
            </a:r>
            <a:endParaRPr lang="zh-CN" sz="760"/>
          </a:p>
        </p:txBody>
      </p:sp>
      <p:sp>
        <p:nvSpPr>
          <p:cNvPr id="29" name="Text 29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3/10</a:t>
            </a:r>
            <a:endParaRPr lang="zh-CN" sz="7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核心玩法流程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从部署、逃生到感染模拟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685800" y="1828800"/>
            <a:ext cx="2331720" cy="3063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Shape 14"/>
          <p:cNvSpPr/>
          <p:nvPr/>
        </p:nvSpPr>
        <p:spPr>
          <a:xfrm>
            <a:off x="685800" y="1828800"/>
            <a:ext cx="82296" cy="306324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ext 15"/>
          <p:cNvSpPr txBox="1"/>
          <p:nvPr/>
        </p:nvSpPr>
        <p:spPr>
          <a:xfrm>
            <a:off x="896112" y="1965960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1 真菌方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896112" y="2359152"/>
            <a:ext cx="1947672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60 秒部署孢子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可手动布阵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也可请求 AI 生成策略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孢子对宿主隐藏</a:t>
            </a:r>
            <a:endParaRPr lang="zh-CN" sz="1030"/>
          </a:p>
        </p:txBody>
      </p:sp>
      <p:cxnSp>
        <p:nvCxnSpPr>
          <p:cNvPr id="17" name="Arrow 17"/>
          <p:cNvCxnSpPr/>
          <p:nvPr/>
        </p:nvCxnSpPr>
        <p:spPr>
          <a:xfrm>
            <a:off x="3090672" y="3364992"/>
            <a:ext cx="36576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18" name="Shape 18"/>
          <p:cNvSpPr/>
          <p:nvPr/>
        </p:nvSpPr>
        <p:spPr>
          <a:xfrm>
            <a:off x="3547872" y="1828800"/>
            <a:ext cx="2331720" cy="3063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 19"/>
          <p:cNvSpPr/>
          <p:nvPr/>
        </p:nvSpPr>
        <p:spPr>
          <a:xfrm>
            <a:off x="3547872" y="1828800"/>
            <a:ext cx="82296" cy="306324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 20"/>
          <p:cNvSpPr txBox="1"/>
          <p:nvPr/>
        </p:nvSpPr>
        <p:spPr>
          <a:xfrm>
            <a:off x="3758184" y="1965960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2 宿主方</a:t>
            </a:r>
            <a:endParaRPr lang="zh-CN" sz="1300"/>
          </a:p>
        </p:txBody>
      </p:sp>
      <p:sp>
        <p:nvSpPr>
          <p:cNvPr id="21" name="Text 21"/>
          <p:cNvSpPr txBox="1"/>
          <p:nvPr/>
        </p:nvSpPr>
        <p:spPr>
          <a:xfrm>
            <a:off x="3758184" y="2359152"/>
            <a:ext cx="1947672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15 步内抵达巢穴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可跨层移动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看不到孢子位置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踩中孢子触发感染</a:t>
            </a:r>
            <a:endParaRPr lang="zh-CN" sz="1030"/>
          </a:p>
        </p:txBody>
      </p:sp>
      <p:cxnSp>
        <p:nvCxnSpPr>
          <p:cNvPr id="22" name="Arrow 22"/>
          <p:cNvCxnSpPr/>
          <p:nvPr/>
        </p:nvCxnSpPr>
        <p:spPr>
          <a:xfrm>
            <a:off x="5961888" y="3364992"/>
            <a:ext cx="36576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3" name="Shape 23"/>
          <p:cNvSpPr/>
          <p:nvPr/>
        </p:nvSpPr>
        <p:spPr>
          <a:xfrm>
            <a:off x="6419088" y="1828800"/>
            <a:ext cx="2331720" cy="3063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6419088" y="1828800"/>
            <a:ext cx="82296" cy="306324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ext 25"/>
          <p:cNvSpPr txBox="1"/>
          <p:nvPr/>
        </p:nvSpPr>
        <p:spPr>
          <a:xfrm>
            <a:off x="6629400" y="1965960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3 感染周期</a:t>
            </a:r>
            <a:endParaRPr lang="zh-CN" sz="1300"/>
          </a:p>
        </p:txBody>
      </p:sp>
      <p:sp>
        <p:nvSpPr>
          <p:cNvPr id="26" name="Text 26"/>
          <p:cNvSpPr txBox="1"/>
          <p:nvPr/>
        </p:nvSpPr>
        <p:spPr>
          <a:xfrm>
            <a:off x="6629400" y="2359152"/>
            <a:ext cx="1947672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8 个阶段演化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食物影响生存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阶段讲解可 RAG 增强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控制权随阶段变化</a:t>
            </a:r>
            <a:endParaRPr lang="zh-CN" sz="1030"/>
          </a:p>
        </p:txBody>
      </p:sp>
      <p:cxnSp>
        <p:nvCxnSpPr>
          <p:cNvPr id="27" name="Arrow 27"/>
          <p:cNvCxnSpPr/>
          <p:nvPr/>
        </p:nvCxnSpPr>
        <p:spPr>
          <a:xfrm>
            <a:off x="8833104" y="3364992"/>
            <a:ext cx="36576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8" name="Shape 28"/>
          <p:cNvSpPr/>
          <p:nvPr/>
        </p:nvSpPr>
        <p:spPr>
          <a:xfrm>
            <a:off x="9290304" y="1828800"/>
            <a:ext cx="1828800" cy="3063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Shape 29"/>
          <p:cNvSpPr/>
          <p:nvPr/>
        </p:nvSpPr>
        <p:spPr>
          <a:xfrm>
            <a:off x="9290304" y="1828800"/>
            <a:ext cx="82296" cy="3063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" name="Text 30"/>
          <p:cNvSpPr txBox="1"/>
          <p:nvPr/>
        </p:nvSpPr>
        <p:spPr>
          <a:xfrm>
            <a:off x="9500616" y="1965960"/>
            <a:ext cx="14813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4 结算</a:t>
            </a:r>
            <a:endParaRPr lang="zh-CN" sz="1300"/>
          </a:p>
        </p:txBody>
      </p:sp>
      <p:sp>
        <p:nvSpPr>
          <p:cNvPr id="31" name="Text 31"/>
          <p:cNvSpPr txBox="1"/>
          <p:nvPr/>
        </p:nvSpPr>
        <p:spPr>
          <a:xfrm>
            <a:off x="9500616" y="2359152"/>
            <a:ext cx="1444752" cy="2423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宿主存活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或真菌完成传播</a:t>
            </a:r>
            <a:endParaRPr lang="zh-CN" sz="1030"/>
          </a:p>
        </p:txBody>
      </p:sp>
      <p:sp>
        <p:nvSpPr>
          <p:cNvPr id="32" name="Text 32"/>
          <p:cNvSpPr txBox="1"/>
          <p:nvPr/>
        </p:nvSpPr>
        <p:spPr>
          <a:xfrm>
            <a:off x="1005840" y="5166360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180" b="1">
                <a:solidFill>
                  <a:srgbClr val="985151"/>
                </a:solidFill>
                <a:latin typeface="Avenir Next"/>
                <a:ea typeface="PingFang SC"/>
              </a:rPr>
              <a:t>胜负逻辑让“传播成功”和“宿主抵抗”变成玩家能感知的结果。</a:t>
            </a:r>
            <a:endParaRPr lang="zh-CN" sz="1180"/>
          </a:p>
        </p:txBody>
      </p:sp>
      <p:sp>
        <p:nvSpPr>
          <p:cNvPr id="33" name="Text 33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讲述提示：适合配合现场演示，先让观众看清双方目标。</a:t>
            </a:r>
            <a:endParaRPr lang="zh-CN" sz="760"/>
          </a:p>
        </p:txBody>
      </p:sp>
      <p:sp>
        <p:nvSpPr>
          <p:cNvPr id="34" name="Text 34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4/10</a:t>
            </a:r>
            <a:endParaRPr lang="zh-CN" sz="76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游戏机制设计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三层地图、资源与物种差异共同构成策略空间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49808" y="1828800"/>
            <a:ext cx="507492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 14"/>
          <p:cNvSpPr txBox="1"/>
          <p:nvPr/>
        </p:nvSpPr>
        <p:spPr>
          <a:xfrm>
            <a:off x="914400" y="1938528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30" b="1">
                <a:solidFill>
                  <a:srgbClr val="9F1E1E"/>
                </a:solidFill>
                <a:latin typeface="Avenir Next"/>
                <a:ea typeface="PingFang SC"/>
              </a:rPr>
              <a:t>树冠层 Layer 2</a:t>
            </a:r>
            <a:endParaRPr lang="zh-CN" sz="930"/>
          </a:p>
        </p:txBody>
      </p:sp>
      <p:sp>
        <p:nvSpPr>
          <p:cNvPr id="15" name="Shape 15"/>
          <p:cNvSpPr/>
          <p:nvPr/>
        </p:nvSpPr>
        <p:spPr>
          <a:xfrm>
            <a:off x="2697480" y="1993392"/>
            <a:ext cx="9144" cy="50292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Shape 16"/>
          <p:cNvSpPr/>
          <p:nvPr/>
        </p:nvSpPr>
        <p:spPr>
          <a:xfrm>
            <a:off x="2980944" y="1993392"/>
            <a:ext cx="9144" cy="50292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Shape 17"/>
          <p:cNvSpPr/>
          <p:nvPr/>
        </p:nvSpPr>
        <p:spPr>
          <a:xfrm>
            <a:off x="3264408" y="1993392"/>
            <a:ext cx="9144" cy="50292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Shape 18"/>
          <p:cNvSpPr/>
          <p:nvPr/>
        </p:nvSpPr>
        <p:spPr>
          <a:xfrm>
            <a:off x="3547872" y="1993392"/>
            <a:ext cx="9144" cy="50292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 19"/>
          <p:cNvSpPr/>
          <p:nvPr/>
        </p:nvSpPr>
        <p:spPr>
          <a:xfrm>
            <a:off x="3831336" y="1993392"/>
            <a:ext cx="9144" cy="50292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Shape 20"/>
          <p:cNvSpPr/>
          <p:nvPr/>
        </p:nvSpPr>
        <p:spPr>
          <a:xfrm>
            <a:off x="4114800" y="1993392"/>
            <a:ext cx="9144" cy="50292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" name="Shape 21"/>
          <p:cNvSpPr/>
          <p:nvPr/>
        </p:nvSpPr>
        <p:spPr>
          <a:xfrm>
            <a:off x="4398264" y="1993392"/>
            <a:ext cx="9144" cy="50292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Shape 22"/>
          <p:cNvSpPr/>
          <p:nvPr/>
        </p:nvSpPr>
        <p:spPr>
          <a:xfrm>
            <a:off x="4681728" y="1993392"/>
            <a:ext cx="9144" cy="50292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" name="Shape 23"/>
          <p:cNvSpPr/>
          <p:nvPr/>
        </p:nvSpPr>
        <p:spPr>
          <a:xfrm>
            <a:off x="2606040" y="2057400"/>
            <a:ext cx="2377440" cy="9144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2606040" y="2212848"/>
            <a:ext cx="2377440" cy="9144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Shape 25"/>
          <p:cNvSpPr/>
          <p:nvPr/>
        </p:nvSpPr>
        <p:spPr>
          <a:xfrm>
            <a:off x="2606040" y="2368296"/>
            <a:ext cx="2377440" cy="9144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6" name="Shape 26"/>
          <p:cNvSpPr/>
          <p:nvPr/>
        </p:nvSpPr>
        <p:spPr>
          <a:xfrm>
            <a:off x="749808" y="2971800"/>
            <a:ext cx="507492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7" name="Text 27"/>
          <p:cNvSpPr txBox="1"/>
          <p:nvPr/>
        </p:nvSpPr>
        <p:spPr>
          <a:xfrm>
            <a:off x="914400" y="3081528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30" b="1">
                <a:solidFill>
                  <a:srgbClr val="9F1E1E"/>
                </a:solidFill>
                <a:latin typeface="Avenir Next"/>
                <a:ea typeface="PingFang SC"/>
              </a:rPr>
              <a:t>植被层 Layer 1</a:t>
            </a:r>
            <a:endParaRPr lang="zh-CN" sz="930"/>
          </a:p>
        </p:txBody>
      </p:sp>
      <p:sp>
        <p:nvSpPr>
          <p:cNvPr id="28" name="Shape 28"/>
          <p:cNvSpPr/>
          <p:nvPr/>
        </p:nvSpPr>
        <p:spPr>
          <a:xfrm>
            <a:off x="2697480" y="3136392"/>
            <a:ext cx="9144" cy="5029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9" name="Shape 29"/>
          <p:cNvSpPr/>
          <p:nvPr/>
        </p:nvSpPr>
        <p:spPr>
          <a:xfrm>
            <a:off x="2980944" y="3136392"/>
            <a:ext cx="9144" cy="5029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" name="Shape 30"/>
          <p:cNvSpPr/>
          <p:nvPr/>
        </p:nvSpPr>
        <p:spPr>
          <a:xfrm>
            <a:off x="3264408" y="3136392"/>
            <a:ext cx="9144" cy="5029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" name="Shape 31"/>
          <p:cNvSpPr/>
          <p:nvPr/>
        </p:nvSpPr>
        <p:spPr>
          <a:xfrm>
            <a:off x="3547872" y="3136392"/>
            <a:ext cx="9144" cy="5029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" name="Shape 32"/>
          <p:cNvSpPr/>
          <p:nvPr/>
        </p:nvSpPr>
        <p:spPr>
          <a:xfrm>
            <a:off x="3831336" y="3136392"/>
            <a:ext cx="9144" cy="5029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Shape 33"/>
          <p:cNvSpPr/>
          <p:nvPr/>
        </p:nvSpPr>
        <p:spPr>
          <a:xfrm>
            <a:off x="4114800" y="3136392"/>
            <a:ext cx="9144" cy="5029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" name="Shape 34"/>
          <p:cNvSpPr/>
          <p:nvPr/>
        </p:nvSpPr>
        <p:spPr>
          <a:xfrm>
            <a:off x="4398264" y="3136392"/>
            <a:ext cx="9144" cy="5029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" name="Shape 35"/>
          <p:cNvSpPr/>
          <p:nvPr/>
        </p:nvSpPr>
        <p:spPr>
          <a:xfrm>
            <a:off x="4681728" y="3136392"/>
            <a:ext cx="9144" cy="5029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6" name="Shape 36"/>
          <p:cNvSpPr/>
          <p:nvPr/>
        </p:nvSpPr>
        <p:spPr>
          <a:xfrm>
            <a:off x="2606040" y="3200400"/>
            <a:ext cx="2377440" cy="9144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Shape 37"/>
          <p:cNvSpPr/>
          <p:nvPr/>
        </p:nvSpPr>
        <p:spPr>
          <a:xfrm>
            <a:off x="2606040" y="3355848"/>
            <a:ext cx="2377440" cy="9144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8" name="Shape 38"/>
          <p:cNvSpPr/>
          <p:nvPr/>
        </p:nvSpPr>
        <p:spPr>
          <a:xfrm>
            <a:off x="2606040" y="3511296"/>
            <a:ext cx="2377440" cy="9144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9" name="Shape 39"/>
          <p:cNvSpPr/>
          <p:nvPr/>
        </p:nvSpPr>
        <p:spPr>
          <a:xfrm>
            <a:off x="749808" y="4114800"/>
            <a:ext cx="507492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Text 40"/>
          <p:cNvSpPr txBox="1"/>
          <p:nvPr/>
        </p:nvSpPr>
        <p:spPr>
          <a:xfrm>
            <a:off x="914400" y="4224528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30" b="1">
                <a:solidFill>
                  <a:srgbClr val="9F1E1E"/>
                </a:solidFill>
                <a:latin typeface="Avenir Next"/>
                <a:ea typeface="PingFang SC"/>
              </a:rPr>
              <a:t>地面层 Layer 0</a:t>
            </a:r>
            <a:endParaRPr lang="zh-CN" sz="930"/>
          </a:p>
        </p:txBody>
      </p:sp>
      <p:sp>
        <p:nvSpPr>
          <p:cNvPr id="41" name="Shape 41"/>
          <p:cNvSpPr/>
          <p:nvPr/>
        </p:nvSpPr>
        <p:spPr>
          <a:xfrm>
            <a:off x="2697480" y="4279392"/>
            <a:ext cx="9144" cy="5029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2" name="Shape 42"/>
          <p:cNvSpPr/>
          <p:nvPr/>
        </p:nvSpPr>
        <p:spPr>
          <a:xfrm>
            <a:off x="2980944" y="4279392"/>
            <a:ext cx="9144" cy="5029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3" name="Shape 43"/>
          <p:cNvSpPr/>
          <p:nvPr/>
        </p:nvSpPr>
        <p:spPr>
          <a:xfrm>
            <a:off x="3264408" y="4279392"/>
            <a:ext cx="9144" cy="5029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4" name="Shape 44"/>
          <p:cNvSpPr/>
          <p:nvPr/>
        </p:nvSpPr>
        <p:spPr>
          <a:xfrm>
            <a:off x="3547872" y="4279392"/>
            <a:ext cx="9144" cy="5029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Shape 45"/>
          <p:cNvSpPr/>
          <p:nvPr/>
        </p:nvSpPr>
        <p:spPr>
          <a:xfrm>
            <a:off x="3831336" y="4279392"/>
            <a:ext cx="9144" cy="5029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6" name="Shape 46"/>
          <p:cNvSpPr/>
          <p:nvPr/>
        </p:nvSpPr>
        <p:spPr>
          <a:xfrm>
            <a:off x="4114800" y="4279392"/>
            <a:ext cx="9144" cy="5029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7" name="Shape 47"/>
          <p:cNvSpPr/>
          <p:nvPr/>
        </p:nvSpPr>
        <p:spPr>
          <a:xfrm>
            <a:off x="4398264" y="4279392"/>
            <a:ext cx="9144" cy="5029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Shape 48"/>
          <p:cNvSpPr/>
          <p:nvPr/>
        </p:nvSpPr>
        <p:spPr>
          <a:xfrm>
            <a:off x="4681728" y="4279392"/>
            <a:ext cx="9144" cy="5029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9" name="Shape 49"/>
          <p:cNvSpPr/>
          <p:nvPr/>
        </p:nvSpPr>
        <p:spPr>
          <a:xfrm>
            <a:off x="2606040" y="4343400"/>
            <a:ext cx="2377440" cy="9144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0" name="Shape 50"/>
          <p:cNvSpPr/>
          <p:nvPr/>
        </p:nvSpPr>
        <p:spPr>
          <a:xfrm>
            <a:off x="2606040" y="4498848"/>
            <a:ext cx="2377440" cy="9144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Shape 51"/>
          <p:cNvSpPr/>
          <p:nvPr/>
        </p:nvSpPr>
        <p:spPr>
          <a:xfrm>
            <a:off x="2606040" y="4654296"/>
            <a:ext cx="2377440" cy="9144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2" name="Text 52"/>
          <p:cNvSpPr txBox="1"/>
          <p:nvPr/>
        </p:nvSpPr>
        <p:spPr>
          <a:xfrm>
            <a:off x="2926080" y="3182112"/>
            <a:ext cx="320040" cy="25603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FFF8F5"/>
                </a:solidFill>
                <a:latin typeface="Avenir Next"/>
                <a:ea typeface="PingFang SC"/>
              </a:rPr>
              <a:t>H</a:t>
            </a:r>
            <a:endParaRPr lang="zh-CN" sz="900"/>
          </a:p>
        </p:txBody>
      </p:sp>
      <p:sp>
        <p:nvSpPr>
          <p:cNvPr id="53" name="Text 53"/>
          <p:cNvSpPr txBox="1"/>
          <p:nvPr/>
        </p:nvSpPr>
        <p:spPr>
          <a:xfrm>
            <a:off x="4572000" y="2039112"/>
            <a:ext cx="320040" cy="256032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FFF8F5"/>
                </a:solidFill>
                <a:latin typeface="Avenir Next"/>
                <a:ea typeface="PingFang SC"/>
              </a:rPr>
              <a:t>S</a:t>
            </a:r>
            <a:endParaRPr lang="zh-CN" sz="900"/>
          </a:p>
        </p:txBody>
      </p:sp>
      <p:sp>
        <p:nvSpPr>
          <p:cNvPr id="54" name="Text 54"/>
          <p:cNvSpPr txBox="1"/>
          <p:nvPr/>
        </p:nvSpPr>
        <p:spPr>
          <a:xfrm>
            <a:off x="4023360" y="4325112"/>
            <a:ext cx="320040" cy="2560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00" b="1">
                <a:solidFill>
                  <a:srgbClr val="FFF8F5"/>
                </a:solidFill>
                <a:latin typeface="Avenir Next"/>
                <a:ea typeface="PingFang SC"/>
              </a:rPr>
              <a:t>N</a:t>
            </a:r>
            <a:endParaRPr lang="zh-CN" sz="900"/>
          </a:p>
        </p:txBody>
      </p:sp>
      <p:sp>
        <p:nvSpPr>
          <p:cNvPr id="55" name="Shape 55"/>
          <p:cNvSpPr/>
          <p:nvPr/>
        </p:nvSpPr>
        <p:spPr>
          <a:xfrm>
            <a:off x="6355080" y="1828800"/>
            <a:ext cx="2240280" cy="3291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6" name="Shape 56"/>
          <p:cNvSpPr/>
          <p:nvPr/>
        </p:nvSpPr>
        <p:spPr>
          <a:xfrm>
            <a:off x="6355080" y="1828800"/>
            <a:ext cx="82296" cy="329184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7" name="Text 57"/>
          <p:cNvSpPr txBox="1"/>
          <p:nvPr/>
        </p:nvSpPr>
        <p:spPr>
          <a:xfrm>
            <a:off x="6565392" y="1965960"/>
            <a:ext cx="18928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机制变量</a:t>
            </a:r>
            <a:endParaRPr lang="zh-CN" sz="1300"/>
          </a:p>
        </p:txBody>
      </p:sp>
      <p:sp>
        <p:nvSpPr>
          <p:cNvPr id="58" name="Text 58"/>
          <p:cNvSpPr txBox="1"/>
          <p:nvPr/>
        </p:nvSpPr>
        <p:spPr>
          <a:xfrm>
            <a:off x="6565392" y="2359152"/>
            <a:ext cx="1856232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宿主类型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环境类型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真菌类型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食物与生存时间</a:t>
            </a:r>
            <a:endParaRPr lang="zh-CN" sz="1030"/>
          </a:p>
        </p:txBody>
      </p:sp>
      <p:sp>
        <p:nvSpPr>
          <p:cNvPr id="59" name="Shape 59"/>
          <p:cNvSpPr/>
          <p:nvPr/>
        </p:nvSpPr>
        <p:spPr>
          <a:xfrm>
            <a:off x="8887968" y="1828800"/>
            <a:ext cx="2331720" cy="3291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Shape 60"/>
          <p:cNvSpPr/>
          <p:nvPr/>
        </p:nvSpPr>
        <p:spPr>
          <a:xfrm>
            <a:off x="8887968" y="1828800"/>
            <a:ext cx="82296" cy="329184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1" name="Text 61"/>
          <p:cNvSpPr txBox="1"/>
          <p:nvPr/>
        </p:nvSpPr>
        <p:spPr>
          <a:xfrm>
            <a:off x="9098280" y="1965960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科学约束</a:t>
            </a:r>
            <a:endParaRPr lang="zh-CN" sz="1300"/>
          </a:p>
        </p:txBody>
      </p:sp>
      <p:sp>
        <p:nvSpPr>
          <p:cNvPr id="62" name="Text 62"/>
          <p:cNvSpPr txBox="1"/>
          <p:nvPr/>
        </p:nvSpPr>
        <p:spPr>
          <a:xfrm>
            <a:off x="9098280" y="2359152"/>
            <a:ext cx="1947672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O. sinensis 不套用蚂蚁模型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鬼天蛾组合锁定高山生态位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行为表型与组织表型分开讲</a:t>
            </a:r>
            <a:endParaRPr lang="zh-CN" sz="1030"/>
          </a:p>
        </p:txBody>
      </p:sp>
      <p:sp>
        <p:nvSpPr>
          <p:cNvPr id="63" name="Text 63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讲述提示：H 是宿主，S 是孢子，N 是巢穴；机制设计映射真实生态概念。</a:t>
            </a:r>
            <a:endParaRPr lang="zh-CN" sz="760"/>
          </a:p>
        </p:txBody>
      </p:sp>
      <p:sp>
        <p:nvSpPr>
          <p:cNvPr id="64" name="Text 64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5/10</a:t>
            </a:r>
            <a:endParaRPr lang="zh-CN" sz="76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AI 能力一：孢子策略生成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让模型参与策略，而不是只回答问题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49808" y="1828800"/>
            <a:ext cx="27432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Shape 14"/>
          <p:cNvSpPr/>
          <p:nvPr/>
        </p:nvSpPr>
        <p:spPr>
          <a:xfrm>
            <a:off x="749808" y="1828800"/>
            <a:ext cx="82296" cy="33375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ext 15"/>
          <p:cNvSpPr txBox="1"/>
          <p:nvPr/>
        </p:nvSpPr>
        <p:spPr>
          <a:xfrm>
            <a:off x="960120" y="1965960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输入上下文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60120" y="2359152"/>
            <a:ext cx="235915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宿主类型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环境类型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真菌类型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宿主起点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巢穴位置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三层地图约束</a:t>
            </a:r>
            <a:endParaRPr lang="zh-CN" sz="1030"/>
          </a:p>
        </p:txBody>
      </p:sp>
      <p:cxnSp>
        <p:nvCxnSpPr>
          <p:cNvPr id="17" name="Arrow 17"/>
          <p:cNvCxnSpPr/>
          <p:nvPr/>
        </p:nvCxnSpPr>
        <p:spPr>
          <a:xfrm>
            <a:off x="3611880" y="3429000"/>
            <a:ext cx="393192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18" name="Shape 18"/>
          <p:cNvSpPr/>
          <p:nvPr/>
        </p:nvSpPr>
        <p:spPr>
          <a:xfrm>
            <a:off x="4114800" y="1828800"/>
            <a:ext cx="27432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 19"/>
          <p:cNvSpPr/>
          <p:nvPr/>
        </p:nvSpPr>
        <p:spPr>
          <a:xfrm>
            <a:off x="4114800" y="1828800"/>
            <a:ext cx="82296" cy="333756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 20"/>
          <p:cNvSpPr txBox="1"/>
          <p:nvPr/>
        </p:nvSpPr>
        <p:spPr>
          <a:xfrm>
            <a:off x="4325112" y="1965960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GLM-5 生成</a:t>
            </a:r>
            <a:endParaRPr lang="zh-CN" sz="1300"/>
          </a:p>
        </p:txBody>
      </p:sp>
      <p:sp>
        <p:nvSpPr>
          <p:cNvPr id="21" name="Text 21"/>
          <p:cNvSpPr txBox="1"/>
          <p:nvPr/>
        </p:nvSpPr>
        <p:spPr>
          <a:xfrm>
            <a:off x="4325112" y="2359152"/>
            <a:ext cx="235915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提示词要求：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输出严格 JSON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10 个部署点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考虑必经路径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控制聚集距离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特殊宿主限制</a:t>
            </a:r>
            <a:endParaRPr lang="zh-CN" sz="1030"/>
          </a:p>
        </p:txBody>
      </p:sp>
      <p:cxnSp>
        <p:nvCxnSpPr>
          <p:cNvPr id="22" name="Arrow 22"/>
          <p:cNvCxnSpPr/>
          <p:nvPr/>
        </p:nvCxnSpPr>
        <p:spPr>
          <a:xfrm>
            <a:off x="6967728" y="3429000"/>
            <a:ext cx="393192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3" name="Shape 23"/>
          <p:cNvSpPr/>
          <p:nvPr/>
        </p:nvSpPr>
        <p:spPr>
          <a:xfrm>
            <a:off x="7479792" y="1828800"/>
            <a:ext cx="34290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7479792" y="1828800"/>
            <a:ext cx="82296" cy="333756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ext 25"/>
          <p:cNvSpPr txBox="1"/>
          <p:nvPr/>
        </p:nvSpPr>
        <p:spPr>
          <a:xfrm>
            <a:off x="7690104" y="1965960"/>
            <a:ext cx="30815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前端解析与渲染</a:t>
            </a:r>
            <a:endParaRPr lang="zh-CN" sz="1300"/>
          </a:p>
        </p:txBody>
      </p:sp>
      <p:sp>
        <p:nvSpPr>
          <p:cNvPr id="26" name="Text 26"/>
          <p:cNvSpPr txBox="1"/>
          <p:nvPr/>
        </p:nvSpPr>
        <p:spPr>
          <a:xfrm>
            <a:off x="7690104" y="2359152"/>
            <a:ext cx="304495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parseDeployments() 兼容多种返回格式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成功后自动把孢子绘制到对应 Layer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失败时保留随机布阵作为可用兜底</a:t>
            </a:r>
            <a:endParaRPr lang="zh-CN" sz="1030"/>
          </a:p>
        </p:txBody>
      </p:sp>
      <p:sp>
        <p:nvSpPr>
          <p:cNvPr id="27" name="Text 27"/>
          <p:cNvSpPr txBox="1"/>
          <p:nvPr/>
        </p:nvSpPr>
        <p:spPr>
          <a:xfrm>
            <a:off x="914400" y="544068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120" b="1">
                <a:solidFill>
                  <a:srgbClr val="985151"/>
                </a:solidFill>
                <a:latin typeface="Avenir Next"/>
                <a:ea typeface="PingFang SC"/>
              </a:rPr>
              <a:t>展示价值：AI 输出会直接改变游戏地图和玩家决策，形成可观察的智能交互。</a:t>
            </a:r>
            <a:endParaRPr lang="zh-CN" sz="1120"/>
          </a:p>
        </p:txBody>
      </p:sp>
      <p:sp>
        <p:nvSpPr>
          <p:cNvPr id="28" name="Text 28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讲述提示：模型不是外挂文案，而是参与游戏策略生成。</a:t>
            </a:r>
            <a:endParaRPr lang="zh-CN" sz="760"/>
          </a:p>
        </p:txBody>
      </p:sp>
      <p:sp>
        <p:nvSpPr>
          <p:cNvPr id="29" name="Text 29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6/10</a:t>
            </a:r>
            <a:endParaRPr lang="zh-CN" sz="76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AI 能力二：RAG 科普问答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用知识库证据支撑课堂解释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685800" y="1828800"/>
            <a:ext cx="233172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Shape 14"/>
          <p:cNvSpPr/>
          <p:nvPr/>
        </p:nvSpPr>
        <p:spPr>
          <a:xfrm>
            <a:off x="685800" y="1828800"/>
            <a:ext cx="82296" cy="33375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ext 15"/>
          <p:cNvSpPr txBox="1"/>
          <p:nvPr/>
        </p:nvSpPr>
        <p:spPr>
          <a:xfrm>
            <a:off x="896112" y="1965960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问题入口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896112" y="2359152"/>
            <a:ext cx="194767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用户输入：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What is the death grip?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真菌如何操控宿主行为？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接口：/api/rag/ask</a:t>
            </a:r>
            <a:endParaRPr lang="zh-CN" sz="1030"/>
          </a:p>
        </p:txBody>
      </p:sp>
      <p:cxnSp>
        <p:nvCxnSpPr>
          <p:cNvPr id="17" name="Arrow 17"/>
          <p:cNvCxnSpPr/>
          <p:nvPr/>
        </p:nvCxnSpPr>
        <p:spPr>
          <a:xfrm>
            <a:off x="3108960" y="3429000"/>
            <a:ext cx="36576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18" name="Shape 18"/>
          <p:cNvSpPr/>
          <p:nvPr/>
        </p:nvSpPr>
        <p:spPr>
          <a:xfrm>
            <a:off x="3566160" y="1828800"/>
            <a:ext cx="233172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 19"/>
          <p:cNvSpPr/>
          <p:nvPr/>
        </p:nvSpPr>
        <p:spPr>
          <a:xfrm>
            <a:off x="3566160" y="1828800"/>
            <a:ext cx="82296" cy="333756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 20"/>
          <p:cNvSpPr txBox="1"/>
          <p:nvPr/>
        </p:nvSpPr>
        <p:spPr>
          <a:xfrm>
            <a:off x="3776472" y="1965960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向量检索</a:t>
            </a:r>
            <a:endParaRPr lang="zh-CN" sz="1300"/>
          </a:p>
        </p:txBody>
      </p:sp>
      <p:sp>
        <p:nvSpPr>
          <p:cNvPr id="21" name="Text 21"/>
          <p:cNvSpPr txBox="1"/>
          <p:nvPr/>
        </p:nvSpPr>
        <p:spPr>
          <a:xfrm>
            <a:off x="3776472" y="2359152"/>
            <a:ext cx="194767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SentenceTransformer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生成 query embedding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Chroma 检索相关片段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返回 documents / metadata / distances</a:t>
            </a:r>
            <a:endParaRPr lang="zh-CN" sz="1030"/>
          </a:p>
        </p:txBody>
      </p:sp>
      <p:cxnSp>
        <p:nvCxnSpPr>
          <p:cNvPr id="22" name="Arrow 22"/>
          <p:cNvCxnSpPr/>
          <p:nvPr/>
        </p:nvCxnSpPr>
        <p:spPr>
          <a:xfrm>
            <a:off x="5989320" y="3429000"/>
            <a:ext cx="36576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3" name="Shape 23"/>
          <p:cNvSpPr/>
          <p:nvPr/>
        </p:nvSpPr>
        <p:spPr>
          <a:xfrm>
            <a:off x="6446520" y="1828800"/>
            <a:ext cx="233172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6446520" y="1828800"/>
            <a:ext cx="82296" cy="333756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ext 25"/>
          <p:cNvSpPr txBox="1"/>
          <p:nvPr/>
        </p:nvSpPr>
        <p:spPr>
          <a:xfrm>
            <a:off x="6656832" y="1965960"/>
            <a:ext cx="1984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证据生成</a:t>
            </a:r>
            <a:endParaRPr lang="zh-CN" sz="1300"/>
          </a:p>
        </p:txBody>
      </p:sp>
      <p:sp>
        <p:nvSpPr>
          <p:cNvPr id="26" name="Text 26"/>
          <p:cNvSpPr txBox="1"/>
          <p:nvPr/>
        </p:nvSpPr>
        <p:spPr>
          <a:xfrm>
            <a:off x="6656832" y="2359152"/>
            <a:ext cx="194767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GLM-5 只基于检索证据回答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输出中文、准确、简洁、适合课堂解释</a:t>
            </a:r>
            <a:endParaRPr lang="zh-CN" sz="1030"/>
          </a:p>
        </p:txBody>
      </p:sp>
      <p:cxnSp>
        <p:nvCxnSpPr>
          <p:cNvPr id="27" name="Arrow 27"/>
          <p:cNvCxnSpPr/>
          <p:nvPr/>
        </p:nvCxnSpPr>
        <p:spPr>
          <a:xfrm>
            <a:off x="8869680" y="3429000"/>
            <a:ext cx="36576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8" name="Shape 28"/>
          <p:cNvSpPr/>
          <p:nvPr/>
        </p:nvSpPr>
        <p:spPr>
          <a:xfrm>
            <a:off x="9326880" y="1828800"/>
            <a:ext cx="182880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Shape 29"/>
          <p:cNvSpPr/>
          <p:nvPr/>
        </p:nvSpPr>
        <p:spPr>
          <a:xfrm>
            <a:off x="9326880" y="1828800"/>
            <a:ext cx="82296" cy="3337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" name="Text 30"/>
          <p:cNvSpPr txBox="1"/>
          <p:nvPr/>
        </p:nvSpPr>
        <p:spPr>
          <a:xfrm>
            <a:off x="9537192" y="1965960"/>
            <a:ext cx="14813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教学反馈</a:t>
            </a:r>
            <a:endParaRPr lang="zh-CN" sz="1300"/>
          </a:p>
        </p:txBody>
      </p:sp>
      <p:sp>
        <p:nvSpPr>
          <p:cNvPr id="31" name="Text 31"/>
          <p:cNvSpPr txBox="1"/>
          <p:nvPr/>
        </p:nvSpPr>
        <p:spPr>
          <a:xfrm>
            <a:off x="9537192" y="2359152"/>
            <a:ext cx="1444752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回答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证据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标签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距离</a:t>
            </a:r>
            <a:endParaRPr lang="zh-CN" sz="1030"/>
          </a:p>
        </p:txBody>
      </p:sp>
      <p:sp>
        <p:nvSpPr>
          <p:cNvPr id="32" name="Text 32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讲述提示：RAG 的价值是让回答回到知识证据，而不是自由发挥。</a:t>
            </a:r>
            <a:endParaRPr lang="zh-CN" sz="760"/>
          </a:p>
        </p:txBody>
      </p:sp>
      <p:sp>
        <p:nvSpPr>
          <p:cNvPr id="33" name="Text 33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7/10</a:t>
            </a:r>
            <a:endParaRPr lang="zh-CN" sz="76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系统架构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前端状态机 + Flask API + GLM-5 / Chroma 知识库</a:t>
            </a:r>
            <a:endParaRPr lang="zh-CN" sz="900"/>
          </a:p>
        </p:txBody>
      </p:sp>
      <p:sp>
        <p:nvSpPr>
          <p:cNvPr id="13" name="Text 13"/>
          <p:cNvSpPr txBox="1"/>
          <p:nvPr/>
        </p:nvSpPr>
        <p:spPr>
          <a:xfrm>
            <a:off x="822960" y="1828800"/>
            <a:ext cx="1828800" cy="658368"/>
          </a:xfrm>
          <a:prstGeom prst="rect">
            <a:avLst/>
          </a:prstGeom>
          <a:solidFill>
            <a:srgbClr val="D9392E"/>
          </a:solidFill>
          <a:ln w="12700">
            <a:solidFill>
              <a:srgbClr val="EFC1B2"/>
            </a:solidFill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80" b="1">
                <a:solidFill>
                  <a:srgbClr val="FFF8F5"/>
                </a:solidFill>
                <a:latin typeface="Avenir Next"/>
                <a:ea typeface="PingFang SC"/>
              </a:rPr>
              <a:t>Browser UI</a:t>
            </a:r>
            <a:endParaRPr lang="zh-CN" sz="980"/>
          </a:p>
        </p:txBody>
      </p:sp>
      <p:sp>
        <p:nvSpPr>
          <p:cNvPr id="14" name="Text 14"/>
          <p:cNvSpPr txBox="1"/>
          <p:nvPr/>
        </p:nvSpPr>
        <p:spPr>
          <a:xfrm>
            <a:off x="3154680" y="1828800"/>
            <a:ext cx="1828800" cy="658368"/>
          </a:xfrm>
          <a:prstGeom prst="rect">
            <a:avLst/>
          </a:prstGeom>
          <a:solidFill>
            <a:srgbClr val="B82720"/>
          </a:solidFill>
          <a:ln w="12700">
            <a:solidFill>
              <a:srgbClr val="EFC1B2"/>
            </a:solidFill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80" b="1">
                <a:solidFill>
                  <a:srgbClr val="FFF8F5"/>
                </a:solidFill>
                <a:latin typeface="Avenir Next"/>
                <a:ea typeface="PingFang SC"/>
              </a:rPr>
              <a:t>Game Logic</a:t>
            </a:r>
            <a:endParaRPr lang="zh-CN" sz="980"/>
          </a:p>
        </p:txBody>
      </p:sp>
      <p:sp>
        <p:nvSpPr>
          <p:cNvPr id="15" name="Text 15"/>
          <p:cNvSpPr txBox="1"/>
          <p:nvPr/>
        </p:nvSpPr>
        <p:spPr>
          <a:xfrm>
            <a:off x="3154680" y="2971800"/>
            <a:ext cx="1828800" cy="658368"/>
          </a:xfrm>
          <a:prstGeom prst="rect">
            <a:avLst/>
          </a:prstGeom>
          <a:solidFill>
            <a:srgbClr val="B82720"/>
          </a:solidFill>
          <a:ln w="12700">
            <a:solidFill>
              <a:srgbClr val="EFC1B2"/>
            </a:solidFill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80" b="1">
                <a:solidFill>
                  <a:srgbClr val="FFF8F5"/>
                </a:solidFill>
                <a:latin typeface="Avenir Next"/>
                <a:ea typeface="PingFang SC"/>
              </a:rPr>
              <a:t>AI Strategy</a:t>
            </a:r>
            <a:endParaRPr lang="zh-CN" sz="980"/>
          </a:p>
        </p:txBody>
      </p:sp>
      <p:sp>
        <p:nvSpPr>
          <p:cNvPr id="16" name="Text 16"/>
          <p:cNvSpPr txBox="1"/>
          <p:nvPr/>
        </p:nvSpPr>
        <p:spPr>
          <a:xfrm>
            <a:off x="3154680" y="4114800"/>
            <a:ext cx="1828800" cy="658368"/>
          </a:xfrm>
          <a:prstGeom prst="rect">
            <a:avLst/>
          </a:prstGeom>
          <a:solidFill>
            <a:srgbClr val="B82720"/>
          </a:solidFill>
          <a:ln w="12700">
            <a:solidFill>
              <a:srgbClr val="EFC1B2"/>
            </a:solidFill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80" b="1">
                <a:solidFill>
                  <a:srgbClr val="FFF8F5"/>
                </a:solidFill>
                <a:latin typeface="Avenir Next"/>
                <a:ea typeface="PingFang SC"/>
              </a:rPr>
              <a:t>RAG Panel</a:t>
            </a:r>
            <a:endParaRPr lang="zh-CN" sz="980"/>
          </a:p>
        </p:txBody>
      </p:sp>
      <p:sp>
        <p:nvSpPr>
          <p:cNvPr id="17" name="Text 17"/>
          <p:cNvSpPr txBox="1"/>
          <p:nvPr/>
        </p:nvSpPr>
        <p:spPr>
          <a:xfrm>
            <a:off x="5577840" y="2971800"/>
            <a:ext cx="2057400" cy="658368"/>
          </a:xfrm>
          <a:prstGeom prst="rect">
            <a:avLst/>
          </a:prstGeom>
          <a:solidFill>
            <a:srgbClr val="B98E4A"/>
          </a:solidFill>
          <a:ln w="12700">
            <a:solidFill>
              <a:srgbClr val="EFC1B2"/>
            </a:solidFill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80" b="1">
                <a:solidFill>
                  <a:srgbClr val="FFF8F5"/>
                </a:solidFill>
                <a:latin typeface="Avenir Next"/>
                <a:ea typeface="PingFang SC"/>
              </a:rPr>
              <a:t>Flask Backend</a:t>
            </a:r>
            <a:endParaRPr lang="zh-CN" sz="980"/>
          </a:p>
        </p:txBody>
      </p:sp>
      <p:sp>
        <p:nvSpPr>
          <p:cNvPr id="18" name="Text 18"/>
          <p:cNvSpPr txBox="1"/>
          <p:nvPr/>
        </p:nvSpPr>
        <p:spPr>
          <a:xfrm>
            <a:off x="8275320" y="2148840"/>
            <a:ext cx="1920240" cy="658368"/>
          </a:xfrm>
          <a:prstGeom prst="rect">
            <a:avLst/>
          </a:prstGeom>
          <a:solidFill>
            <a:srgbClr val="D9392E"/>
          </a:solidFill>
          <a:ln w="12700">
            <a:solidFill>
              <a:srgbClr val="EFC1B2"/>
            </a:solidFill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80" b="1">
                <a:solidFill>
                  <a:srgbClr val="FFF8F5"/>
                </a:solidFill>
                <a:latin typeface="Avenir Next"/>
                <a:ea typeface="PingFang SC"/>
              </a:rPr>
              <a:t>GLM-5 API</a:t>
            </a:r>
            <a:endParaRPr lang="zh-CN" sz="980"/>
          </a:p>
        </p:txBody>
      </p:sp>
      <p:sp>
        <p:nvSpPr>
          <p:cNvPr id="19" name="Text 19"/>
          <p:cNvSpPr txBox="1"/>
          <p:nvPr/>
        </p:nvSpPr>
        <p:spPr>
          <a:xfrm>
            <a:off x="8275320" y="3246120"/>
            <a:ext cx="192024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EFC1B2"/>
            </a:solidFill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80" b="1">
                <a:solidFill>
                  <a:srgbClr val="FFF8F5"/>
                </a:solidFill>
                <a:latin typeface="Avenir Next"/>
                <a:ea typeface="PingFang SC"/>
              </a:rPr>
              <a:t>SentenceTransformer</a:t>
            </a:r>
            <a:endParaRPr lang="zh-CN" sz="980"/>
          </a:p>
        </p:txBody>
      </p:sp>
      <p:sp>
        <p:nvSpPr>
          <p:cNvPr id="20" name="Text 20"/>
          <p:cNvSpPr txBox="1"/>
          <p:nvPr/>
        </p:nvSpPr>
        <p:spPr>
          <a:xfrm>
            <a:off x="8275320" y="4343400"/>
            <a:ext cx="192024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EFC1B2"/>
            </a:solidFill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80" b="1">
                <a:solidFill>
                  <a:srgbClr val="FFF8F5"/>
                </a:solidFill>
                <a:latin typeface="Avenir Next"/>
                <a:ea typeface="PingFang SC"/>
              </a:rPr>
              <a:t>Chroma DB</a:t>
            </a:r>
            <a:endParaRPr lang="zh-CN" sz="980"/>
          </a:p>
        </p:txBody>
      </p:sp>
      <p:cxnSp>
        <p:nvCxnSpPr>
          <p:cNvPr id="21" name="Arrow 21"/>
          <p:cNvCxnSpPr/>
          <p:nvPr/>
        </p:nvCxnSpPr>
        <p:spPr>
          <a:xfrm>
            <a:off x="2697480" y="2157984"/>
            <a:ext cx="45720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4069080" y="2487168"/>
            <a:ext cx="1" cy="484632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cxnSp>
        <p:nvCxnSpPr>
          <p:cNvPr id="23" name="Arrow 23"/>
          <p:cNvCxnSpPr/>
          <p:nvPr/>
        </p:nvCxnSpPr>
        <p:spPr>
          <a:xfrm>
            <a:off x="4069080" y="2487168"/>
            <a:ext cx="1" cy="1627632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4983480" y="3300984"/>
            <a:ext cx="594360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4983480" y="3566160"/>
            <a:ext cx="594360" cy="877824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cxnSp>
        <p:nvCxnSpPr>
          <p:cNvPr id="26" name="Arrow 26"/>
          <p:cNvCxnSpPr/>
          <p:nvPr/>
        </p:nvCxnSpPr>
        <p:spPr>
          <a:xfrm>
            <a:off x="7635240" y="2478024"/>
            <a:ext cx="640080" cy="722376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cxnSp>
        <p:nvCxnSpPr>
          <p:cNvPr id="27" name="Arrow 27"/>
          <p:cNvCxnSpPr/>
          <p:nvPr/>
        </p:nvCxnSpPr>
        <p:spPr>
          <a:xfrm>
            <a:off x="7635240" y="3355848"/>
            <a:ext cx="640080" cy="219456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cxnSp>
        <p:nvCxnSpPr>
          <p:cNvPr id="28" name="Arrow 28"/>
          <p:cNvCxnSpPr/>
          <p:nvPr/>
        </p:nvCxnSpPr>
        <p:spPr>
          <a:xfrm>
            <a:off x="9235440" y="3886200"/>
            <a:ext cx="1" cy="457200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9" name="Shape 29"/>
          <p:cNvSpPr/>
          <p:nvPr/>
        </p:nvSpPr>
        <p:spPr>
          <a:xfrm>
            <a:off x="822960" y="5349240"/>
            <a:ext cx="9372600" cy="6217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0" name="Shape 30"/>
          <p:cNvSpPr/>
          <p:nvPr/>
        </p:nvSpPr>
        <p:spPr>
          <a:xfrm>
            <a:off x="822960" y="5349240"/>
            <a:ext cx="82296" cy="6217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" name="Text 31"/>
          <p:cNvSpPr txBox="1"/>
          <p:nvPr/>
        </p:nvSpPr>
        <p:spPr>
          <a:xfrm>
            <a:off x="1033272" y="5486400"/>
            <a:ext cx="9025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关键接口</a:t>
            </a:r>
            <a:endParaRPr lang="zh-CN" sz="1300"/>
          </a:p>
        </p:txBody>
      </p:sp>
      <p:sp>
        <p:nvSpPr>
          <p:cNvPr id="32" name="Text 32"/>
          <p:cNvSpPr txBox="1"/>
          <p:nvPr/>
        </p:nvSpPr>
        <p:spPr>
          <a:xfrm>
            <a:off x="1033272" y="5879592"/>
            <a:ext cx="8988552" cy="-182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/api/generate：AI 生成与局面解说     /api/rag/health：知识库状态     /api/rag/ask：证据问答</a:t>
            </a:r>
            <a:endParaRPr lang="zh-CN" sz="1030"/>
          </a:p>
        </p:txBody>
      </p:sp>
      <p:sp>
        <p:nvSpPr>
          <p:cNvPr id="33" name="Text 33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讲述提示：技术核心是前端通过 Flask 把模型和知识库接入游戏流程。</a:t>
            </a:r>
            <a:endParaRPr lang="zh-CN" sz="760"/>
          </a:p>
        </p:txBody>
      </p:sp>
      <p:sp>
        <p:nvSpPr>
          <p:cNvPr id="34" name="Text 34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8/10</a:t>
            </a:r>
            <a:endParaRPr lang="zh-CN" sz="76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现场演示路径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按“配置 → 对抗 → 感染 → 问答”展示完整闭环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49808" y="1828800"/>
            <a:ext cx="2011680" cy="3429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Shape 14"/>
          <p:cNvSpPr/>
          <p:nvPr/>
        </p:nvSpPr>
        <p:spPr>
          <a:xfrm>
            <a:off x="749808" y="1828800"/>
            <a:ext cx="82296" cy="342900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ext 15"/>
          <p:cNvSpPr txBox="1"/>
          <p:nvPr/>
        </p:nvSpPr>
        <p:spPr>
          <a:xfrm>
            <a:off x="960120" y="196596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Step 1</a:t>
            </a:r>
            <a:endParaRPr lang="zh-CN" sz="1300"/>
          </a:p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进入首页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60120" y="2359152"/>
            <a:ext cx="1627632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选择角色、宿主、环境、真菌类型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建议演示：木蚁 + O. unilateralis</a:t>
            </a:r>
            <a:endParaRPr lang="zh-CN" sz="1030"/>
          </a:p>
        </p:txBody>
      </p:sp>
      <p:cxnSp>
        <p:nvCxnSpPr>
          <p:cNvPr id="17" name="Arrow 17"/>
          <p:cNvCxnSpPr/>
          <p:nvPr/>
        </p:nvCxnSpPr>
        <p:spPr>
          <a:xfrm>
            <a:off x="2852928" y="3520440"/>
            <a:ext cx="347472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18" name="Shape 18"/>
          <p:cNvSpPr/>
          <p:nvPr/>
        </p:nvSpPr>
        <p:spPr>
          <a:xfrm>
            <a:off x="3291840" y="1828800"/>
            <a:ext cx="2011680" cy="3429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 19"/>
          <p:cNvSpPr/>
          <p:nvPr/>
        </p:nvSpPr>
        <p:spPr>
          <a:xfrm>
            <a:off x="3291840" y="1828800"/>
            <a:ext cx="82296" cy="342900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 20"/>
          <p:cNvSpPr txBox="1"/>
          <p:nvPr/>
        </p:nvSpPr>
        <p:spPr>
          <a:xfrm>
            <a:off x="3502152" y="196596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Step 2</a:t>
            </a:r>
            <a:endParaRPr lang="zh-CN" sz="1300"/>
          </a:p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启动游戏</a:t>
            </a:r>
            <a:endParaRPr lang="zh-CN" sz="1300"/>
          </a:p>
        </p:txBody>
      </p:sp>
      <p:sp>
        <p:nvSpPr>
          <p:cNvPr id="21" name="Text 21"/>
          <p:cNvSpPr txBox="1"/>
          <p:nvPr/>
        </p:nvSpPr>
        <p:spPr>
          <a:xfrm>
            <a:off x="3502152" y="2359152"/>
            <a:ext cx="1627632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展示三层地图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观察宿主与巢穴位置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说明 15 步限制</a:t>
            </a:r>
            <a:endParaRPr lang="zh-CN" sz="1030"/>
          </a:p>
        </p:txBody>
      </p:sp>
      <p:cxnSp>
        <p:nvCxnSpPr>
          <p:cNvPr id="22" name="Arrow 22"/>
          <p:cNvCxnSpPr/>
          <p:nvPr/>
        </p:nvCxnSpPr>
        <p:spPr>
          <a:xfrm>
            <a:off x="5394960" y="3520440"/>
            <a:ext cx="347472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3" name="Shape 23"/>
          <p:cNvSpPr/>
          <p:nvPr/>
        </p:nvSpPr>
        <p:spPr>
          <a:xfrm>
            <a:off x="5833872" y="1828800"/>
            <a:ext cx="2011680" cy="3429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5833872" y="1828800"/>
            <a:ext cx="82296" cy="342900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ext 25"/>
          <p:cNvSpPr txBox="1"/>
          <p:nvPr/>
        </p:nvSpPr>
        <p:spPr>
          <a:xfrm>
            <a:off x="6044184" y="1965960"/>
            <a:ext cx="16642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Step 3</a:t>
            </a:r>
            <a:endParaRPr lang="zh-CN" sz="1300"/>
          </a:p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AI 部署</a:t>
            </a:r>
            <a:endParaRPr lang="zh-CN" sz="1300"/>
          </a:p>
        </p:txBody>
      </p:sp>
      <p:sp>
        <p:nvSpPr>
          <p:cNvPr id="26" name="Text 26"/>
          <p:cNvSpPr txBox="1"/>
          <p:nvPr/>
        </p:nvSpPr>
        <p:spPr>
          <a:xfrm>
            <a:off x="6044184" y="2359152"/>
            <a:ext cx="1627632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点击 AI 生成策略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展示孢子分布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切换到宿主视角</a:t>
            </a:r>
            <a:endParaRPr lang="zh-CN" sz="1030"/>
          </a:p>
        </p:txBody>
      </p:sp>
      <p:cxnSp>
        <p:nvCxnSpPr>
          <p:cNvPr id="27" name="Arrow 27"/>
          <p:cNvCxnSpPr/>
          <p:nvPr/>
        </p:nvCxnSpPr>
        <p:spPr>
          <a:xfrm>
            <a:off x="7936992" y="3520440"/>
            <a:ext cx="338328" cy="1"/>
          </a:xfrm>
          <a:prstGeom prst="straightConnector1">
            <a:avLst/>
          </a:prstGeom>
          <a:ln w="22000">
            <a:solidFill>
              <a:srgbClr val="D9392E"/>
            </a:solidFill>
            <a:headEnd type="triangle"/>
          </a:ln>
        </p:spPr>
      </p:cxnSp>
      <p:sp>
        <p:nvSpPr>
          <p:cNvPr id="28" name="Shape 28"/>
          <p:cNvSpPr/>
          <p:nvPr/>
        </p:nvSpPr>
        <p:spPr>
          <a:xfrm>
            <a:off x="8366760" y="1828800"/>
            <a:ext cx="2514600" cy="3429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Shape 29"/>
          <p:cNvSpPr/>
          <p:nvPr/>
        </p:nvSpPr>
        <p:spPr>
          <a:xfrm>
            <a:off x="8366760" y="1828800"/>
            <a:ext cx="82296" cy="3429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" name="Text 30"/>
          <p:cNvSpPr txBox="1"/>
          <p:nvPr/>
        </p:nvSpPr>
        <p:spPr>
          <a:xfrm>
            <a:off x="8577072" y="1965960"/>
            <a:ext cx="21671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Step 4</a:t>
            </a:r>
            <a:endParaRPr lang="zh-CN" sz="1300"/>
          </a:p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知识增强</a:t>
            </a:r>
            <a:endParaRPr lang="zh-CN" sz="1300"/>
          </a:p>
        </p:txBody>
      </p:sp>
      <p:sp>
        <p:nvSpPr>
          <p:cNvPr id="31" name="Text 31"/>
          <p:cNvSpPr txBox="1"/>
          <p:nvPr/>
        </p:nvSpPr>
        <p:spPr>
          <a:xfrm>
            <a:off x="8577072" y="2359152"/>
            <a:ext cx="2130552" cy="278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触发感染阶段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打开阶段详解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测试 RAG 问答</a:t>
            </a:r>
            <a:endParaRPr lang="zh-CN" sz="1030"/>
          </a:p>
          <a:p>
            <a:pPr algn="l" marL="0" indent="0">
              <a:buNone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生成 AI 局面解说</a:t>
            </a:r>
            <a:endParaRPr lang="zh-CN" sz="1030"/>
          </a:p>
        </p:txBody>
      </p:sp>
      <p:sp>
        <p:nvSpPr>
          <p:cNvPr id="32" name="Text 32"/>
          <p:cNvSpPr txBox="1"/>
          <p:nvPr/>
        </p:nvSpPr>
        <p:spPr>
          <a:xfrm>
            <a:off x="914400" y="5504688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080" b="1">
                <a:solidFill>
                  <a:srgbClr val="985151"/>
                </a:solidFill>
                <a:latin typeface="Avenir Next"/>
                <a:ea typeface="PingFang SC"/>
              </a:rPr>
              <a:t>推荐问题：What is the death grip? / 真菌如何操控宿主行为？</a:t>
            </a:r>
            <a:endParaRPr lang="zh-CN" sz="1080"/>
          </a:p>
        </p:txBody>
      </p:sp>
      <p:sp>
        <p:nvSpPr>
          <p:cNvPr id="33" name="Text 33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讲述提示：现场可以照这个顺序演示，不容易漏掉 AI 与 RAG 亮点。</a:t>
            </a:r>
            <a:endParaRPr lang="zh-CN" sz="760"/>
          </a:p>
        </p:txBody>
      </p:sp>
      <p:sp>
        <p:nvSpPr>
          <p:cNvPr id="34" name="Text 34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9/10</a:t>
            </a:r>
            <a:endParaRPr lang="zh-CN" sz="76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502920" y="502920"/>
            <a:ext cx="1143000" cy="114300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9784080" y="11430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61120" y="530352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97280" y="5394960"/>
            <a:ext cx="685800" cy="68580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58368" y="320040"/>
            <a:ext cx="1417320" cy="3657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0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050"/>
          </a:p>
        </p:txBody>
      </p:sp>
      <p:sp>
        <p:nvSpPr>
          <p:cNvPr id="9" name="Text 9"/>
          <p:cNvSpPr txBox="1"/>
          <p:nvPr/>
        </p:nvSpPr>
        <p:spPr>
          <a:xfrm>
            <a:off x="2240280" y="3840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1">
                <a:solidFill>
                  <a:srgbClr val="9F1E1E"/>
                </a:solidFill>
                <a:latin typeface="Avenir Next"/>
                <a:ea typeface="PingFang SC"/>
              </a:rPr>
              <a:t>PROJECT 02</a:t>
            </a:r>
            <a:endParaRPr lang="zh-CN" sz="850"/>
          </a:p>
        </p:txBody>
      </p:sp>
      <p:sp>
        <p:nvSpPr>
          <p:cNvPr id="10" name="Text 10"/>
          <p:cNvSpPr txBox="1"/>
          <p:nvPr/>
        </p:nvSpPr>
        <p:spPr>
          <a:xfrm>
            <a:off x="658368" y="850392"/>
            <a:ext cx="9966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350" b="1">
                <a:solidFill>
                  <a:srgbClr val="9F1E1E"/>
                </a:solidFill>
                <a:latin typeface="Avenir Next"/>
                <a:ea typeface="PingFang SC"/>
              </a:rPr>
              <a:t>成果、挑战与未来改进</a:t>
            </a:r>
            <a:endParaRPr lang="zh-CN" sz="2350"/>
          </a:p>
        </p:txBody>
      </p:sp>
      <p:sp>
        <p:nvSpPr>
          <p:cNvPr id="11" name="Shape 11"/>
          <p:cNvSpPr/>
          <p:nvPr/>
        </p:nvSpPr>
        <p:spPr>
          <a:xfrm>
            <a:off x="658368" y="1417320"/>
            <a:ext cx="960120" cy="50292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58368" y="1517904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00" b="0">
                <a:solidFill>
                  <a:srgbClr val="985151"/>
                </a:solidFill>
                <a:latin typeface="Avenir Next"/>
                <a:ea typeface="PingFang SC"/>
              </a:rPr>
              <a:t>从可运行原型到更完整的智能教学系统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49808" y="1828800"/>
            <a:ext cx="3246120" cy="3520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Shape 14"/>
          <p:cNvSpPr/>
          <p:nvPr/>
        </p:nvSpPr>
        <p:spPr>
          <a:xfrm>
            <a:off x="749808" y="1828800"/>
            <a:ext cx="82296" cy="3520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Text 15"/>
          <p:cNvSpPr txBox="1"/>
          <p:nvPr/>
        </p:nvSpPr>
        <p:spPr>
          <a:xfrm>
            <a:off x="960120" y="1965960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已完成成果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60120" y="2359152"/>
            <a:ext cx="2862072" cy="2880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可运行 Web 模拟器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三层地图与双阵营对抗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GLM-5 孢子策略生成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RAG 科普问答与阶段补充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感染阶段与胜负结算</a:t>
            </a:r>
            <a:endParaRPr lang="zh-CN" sz="1030"/>
          </a:p>
        </p:txBody>
      </p:sp>
      <p:sp>
        <p:nvSpPr>
          <p:cNvPr id="17" name="Shape 17"/>
          <p:cNvSpPr/>
          <p:nvPr/>
        </p:nvSpPr>
        <p:spPr>
          <a:xfrm>
            <a:off x="4407408" y="1828800"/>
            <a:ext cx="3246120" cy="3520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8" name="Shape 18"/>
          <p:cNvSpPr/>
          <p:nvPr/>
        </p:nvSpPr>
        <p:spPr>
          <a:xfrm>
            <a:off x="4407408" y="1828800"/>
            <a:ext cx="82296" cy="352044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Text 19"/>
          <p:cNvSpPr txBox="1"/>
          <p:nvPr/>
        </p:nvSpPr>
        <p:spPr>
          <a:xfrm>
            <a:off x="4617720" y="1965960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关键挑战</a:t>
            </a:r>
            <a:endParaRPr lang="zh-CN" sz="1300"/>
          </a:p>
        </p:txBody>
      </p:sp>
      <p:sp>
        <p:nvSpPr>
          <p:cNvPr id="20" name="Text 20"/>
          <p:cNvSpPr txBox="1"/>
          <p:nvPr/>
        </p:nvSpPr>
        <p:spPr>
          <a:xfrm>
            <a:off x="4617720" y="2359152"/>
            <a:ext cx="2862072" cy="2880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模型输出 JSON 稳定性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RAG 数据库路径与权限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外部 API 网络环境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游戏机制和科学准确性的平衡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前端状态复杂度增长</a:t>
            </a:r>
            <a:endParaRPr lang="zh-CN" sz="1030"/>
          </a:p>
        </p:txBody>
      </p:sp>
      <p:sp>
        <p:nvSpPr>
          <p:cNvPr id="21" name="Shape 21"/>
          <p:cNvSpPr/>
          <p:nvPr/>
        </p:nvSpPr>
        <p:spPr>
          <a:xfrm>
            <a:off x="8065008" y="1828800"/>
            <a:ext cx="2971800" cy="35204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2" name="Shape 22"/>
          <p:cNvSpPr/>
          <p:nvPr/>
        </p:nvSpPr>
        <p:spPr>
          <a:xfrm>
            <a:off x="8065008" y="1828800"/>
            <a:ext cx="82296" cy="352044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" name="Text 23"/>
          <p:cNvSpPr txBox="1"/>
          <p:nvPr/>
        </p:nvSpPr>
        <p:spPr>
          <a:xfrm>
            <a:off x="8275320" y="1965960"/>
            <a:ext cx="262432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00" b="1">
                <a:solidFill>
                  <a:srgbClr val="9F1E1E"/>
                </a:solidFill>
                <a:latin typeface="Avenir Next"/>
                <a:ea typeface="PingFang SC"/>
              </a:rPr>
              <a:t>未来方向</a:t>
            </a:r>
            <a:endParaRPr lang="zh-CN" sz="1300"/>
          </a:p>
        </p:txBody>
      </p:sp>
      <p:sp>
        <p:nvSpPr>
          <p:cNvPr id="24" name="Text 24"/>
          <p:cNvSpPr txBox="1"/>
          <p:nvPr/>
        </p:nvSpPr>
        <p:spPr>
          <a:xfrm>
            <a:off x="8275320" y="2359152"/>
            <a:ext cx="2587752" cy="2880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扩充知识库与引用来源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增加可视化学习报告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支持多人协作/对战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加入更细粒度生物参数</a:t>
            </a:r>
            <a:endParaRPr lang="zh-CN" sz="1030"/>
          </a:p>
          <a:p>
            <a:pPr algn="l" marL="342900" indent="-171450">
              <a:buChar char="•"/>
              <a:buFont typeface="PingFang SC"/>
            </a:pPr>
            <a:r>
              <a:rPr lang="zh-CN" sz="1030" b="0">
                <a:solidFill>
                  <a:srgbClr val="7B2525"/>
                </a:solidFill>
                <a:latin typeface="Avenir Next"/>
                <a:ea typeface="PingFang SC"/>
              </a:rPr>
              <a:t>输出课堂评价与复盘</a:t>
            </a:r>
            <a:endParaRPr lang="zh-CN" sz="1030"/>
          </a:p>
        </p:txBody>
      </p:sp>
      <p:sp>
        <p:nvSpPr>
          <p:cNvPr id="25" name="Text 25"/>
          <p:cNvSpPr txBox="1"/>
          <p:nvPr/>
        </p:nvSpPr>
        <p:spPr>
          <a:xfrm>
            <a:off x="914400" y="5559552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120" b="1">
                <a:solidFill>
                  <a:srgbClr val="9F1E1E"/>
                </a:solidFill>
                <a:latin typeface="Avenir Next"/>
                <a:ea typeface="PingFang SC"/>
              </a:rPr>
              <a:t>结论：这个项目证明了 AI 可以被嵌入科学教育游戏的机制、解释和反馈三个层面。</a:t>
            </a:r>
            <a:endParaRPr lang="zh-CN" sz="1120"/>
          </a:p>
        </p:txBody>
      </p:sp>
      <p:sp>
        <p:nvSpPr>
          <p:cNvPr id="26" name="Text 26"/>
          <p:cNvSpPr txBox="1"/>
          <p:nvPr/>
        </p:nvSpPr>
        <p:spPr>
          <a:xfrm>
            <a:off x="676656" y="5989320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讲述提示：收束到项目价值：展示 AI 教育应用闭环。</a:t>
            </a:r>
            <a:endParaRPr lang="zh-CN" sz="760"/>
          </a:p>
        </p:txBody>
      </p:sp>
      <p:sp>
        <p:nvSpPr>
          <p:cNvPr id="27" name="Text 27"/>
          <p:cNvSpPr txBox="1"/>
          <p:nvPr/>
        </p:nvSpPr>
        <p:spPr>
          <a:xfrm>
            <a:off x="9966960" y="64190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60" b="0">
                <a:solidFill>
                  <a:srgbClr val="985151"/>
                </a:solidFill>
                <a:latin typeface="Avenir Next"/>
                <a:ea typeface="PingFang SC"/>
              </a:rPr>
              <a:t>10/10</a:t>
            </a:r>
            <a:endParaRPr lang="zh-CN" sz="7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Mushroom Theme">
  <a:themeElements>
    <a:clrScheme name="Warm Mushroom">
      <a:dk1>
        <a:srgbClr val="6B1212"/>
      </a:dk1>
      <a:lt1>
        <a:srgbClr val="FFFDFC"/>
      </a:lt1>
      <a:dk2>
        <a:srgbClr val="7B2525"/>
      </a:dk2>
      <a:lt2>
        <a:srgbClr val="FFF4ED"/>
      </a:lt2>
      <a:accent1>
        <a:srgbClr val="D9392E"/>
      </a:accent1>
      <a:accent2>
        <a:srgbClr val="B82720"/>
      </a:accent2>
      <a:accent3>
        <a:srgbClr val="B98E4A"/>
      </a:accent3>
      <a:accent4>
        <a:srgbClr val="4CAF50"/>
      </a:accent4>
      <a:accent5>
        <a:srgbClr val="F2B8A7"/>
      </a:accent5>
      <a:accent6>
        <a:srgbClr val="985151"/>
      </a:accent6>
      <a:hlink>
        <a:srgbClr val="D9392E"/>
      </a:hlink>
      <a:folHlink>
        <a:srgbClr val="9F1E1E"/>
      </a:folHlink>
    </a:clrScheme>
    <a:fontScheme name="Warm Fonts">
      <a:majorFont>
        <a:latin typeface="Avenir Next"/>
        <a:ea typeface="PingFang SC"/>
      </a:majorFont>
      <a:minorFont>
        <a:latin typeface="Avenir Next"/>
        <a:ea typeface="PingFang SC"/>
      </a:minorFont>
    </a:fontScheme>
    <a:fmtScheme name="Warm Format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</Application>
  <PresentationFormat>Widescreen</PresentationFormat>
  <Slides>10</Slides>
  <Company>Emma Project 02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Fungi Simulator 项目展示</dc:title>
  <dc:creator>Cursor Agent</dc:creator>
  <cp:lastModifiedBy>Cursor Agent</cp:lastModifiedBy>
  <dcterms:created xsi:type="dcterms:W3CDTF">2026-05-14T12:00:00Z</dcterms:created>
  <dcterms:modified xsi:type="dcterms:W3CDTF">2026-05-14T12:07:00Z</dcterms:modified>
</cp:coreProperties>
</file>